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822535" y="5849789"/>
            <a:ext cx="4464050" cy="1870075"/>
          </a:xfrm>
          <a:custGeom>
            <a:avLst/>
            <a:gdLst/>
            <a:ahLst/>
            <a:cxnLst/>
            <a:rect l="l" t="t" r="r" b="b"/>
            <a:pathLst>
              <a:path w="4464050" h="1870075">
                <a:moveTo>
                  <a:pt x="1108529" y="1232373"/>
                </a:moveTo>
                <a:lnTo>
                  <a:pt x="122126" y="1232373"/>
                </a:lnTo>
                <a:lnTo>
                  <a:pt x="74860" y="1222990"/>
                </a:lnTo>
                <a:lnTo>
                  <a:pt x="36402" y="1197291"/>
                </a:lnTo>
                <a:lnTo>
                  <a:pt x="10275" y="1158951"/>
                </a:lnTo>
                <a:lnTo>
                  <a:pt x="0" y="1111644"/>
                </a:lnTo>
                <a:lnTo>
                  <a:pt x="950392" y="1111644"/>
                </a:lnTo>
                <a:lnTo>
                  <a:pt x="997877" y="1102016"/>
                </a:lnTo>
                <a:lnTo>
                  <a:pt x="1036702" y="1075778"/>
                </a:lnTo>
                <a:lnTo>
                  <a:pt x="1062903" y="1036899"/>
                </a:lnTo>
                <a:lnTo>
                  <a:pt x="1072518" y="989347"/>
                </a:lnTo>
                <a:lnTo>
                  <a:pt x="1072518" y="0"/>
                </a:lnTo>
                <a:lnTo>
                  <a:pt x="1108529" y="0"/>
                </a:lnTo>
                <a:lnTo>
                  <a:pt x="1156015" y="9627"/>
                </a:lnTo>
                <a:lnTo>
                  <a:pt x="1194840" y="35865"/>
                </a:lnTo>
                <a:lnTo>
                  <a:pt x="1221041" y="74744"/>
                </a:lnTo>
                <a:lnTo>
                  <a:pt x="1230655" y="122296"/>
                </a:lnTo>
                <a:lnTo>
                  <a:pt x="1230655" y="1110076"/>
                </a:lnTo>
                <a:lnTo>
                  <a:pt x="1221041" y="1157628"/>
                </a:lnTo>
                <a:lnTo>
                  <a:pt x="1194840" y="1196507"/>
                </a:lnTo>
                <a:lnTo>
                  <a:pt x="1156015" y="1222745"/>
                </a:lnTo>
                <a:lnTo>
                  <a:pt x="1108529" y="1232373"/>
                </a:lnTo>
                <a:close/>
              </a:path>
              <a:path w="4464050" h="1870075">
                <a:moveTo>
                  <a:pt x="2056692" y="1869745"/>
                </a:moveTo>
                <a:lnTo>
                  <a:pt x="2002616" y="1868390"/>
                </a:lnTo>
                <a:lnTo>
                  <a:pt x="1940190" y="1865267"/>
                </a:lnTo>
                <a:lnTo>
                  <a:pt x="1874362" y="1860318"/>
                </a:lnTo>
                <a:lnTo>
                  <a:pt x="1810085" y="1853489"/>
                </a:lnTo>
                <a:lnTo>
                  <a:pt x="1752308" y="1844721"/>
                </a:lnTo>
                <a:lnTo>
                  <a:pt x="1705983" y="1833959"/>
                </a:lnTo>
                <a:lnTo>
                  <a:pt x="1667491" y="1806226"/>
                </a:lnTo>
                <a:lnTo>
                  <a:pt x="1668387" y="1788980"/>
                </a:lnTo>
                <a:lnTo>
                  <a:pt x="1665396" y="1764292"/>
                </a:lnTo>
                <a:lnTo>
                  <a:pt x="1659394" y="1732755"/>
                </a:lnTo>
                <a:lnTo>
                  <a:pt x="1651254" y="1694963"/>
                </a:lnTo>
                <a:lnTo>
                  <a:pt x="1641854" y="1651509"/>
                </a:lnTo>
                <a:lnTo>
                  <a:pt x="1632067" y="1602986"/>
                </a:lnTo>
                <a:lnTo>
                  <a:pt x="1622770" y="1549989"/>
                </a:lnTo>
                <a:lnTo>
                  <a:pt x="1614837" y="1493109"/>
                </a:lnTo>
                <a:lnTo>
                  <a:pt x="1609144" y="1432942"/>
                </a:lnTo>
                <a:lnTo>
                  <a:pt x="1606566" y="1370080"/>
                </a:lnTo>
                <a:lnTo>
                  <a:pt x="1607979" y="1305116"/>
                </a:lnTo>
                <a:lnTo>
                  <a:pt x="1614257" y="1238644"/>
                </a:lnTo>
                <a:lnTo>
                  <a:pt x="1626000" y="1187712"/>
                </a:lnTo>
                <a:lnTo>
                  <a:pt x="1646036" y="1141967"/>
                </a:lnTo>
                <a:lnTo>
                  <a:pt x="1673178" y="1101120"/>
                </a:lnTo>
                <a:lnTo>
                  <a:pt x="1706240" y="1064880"/>
                </a:lnTo>
                <a:lnTo>
                  <a:pt x="1744038" y="1032958"/>
                </a:lnTo>
                <a:lnTo>
                  <a:pt x="1785384" y="1005064"/>
                </a:lnTo>
                <a:lnTo>
                  <a:pt x="1829093" y="980908"/>
                </a:lnTo>
                <a:lnTo>
                  <a:pt x="1873980" y="960199"/>
                </a:lnTo>
                <a:lnTo>
                  <a:pt x="1918858" y="942649"/>
                </a:lnTo>
                <a:lnTo>
                  <a:pt x="1962543" y="927967"/>
                </a:lnTo>
                <a:lnTo>
                  <a:pt x="2003847" y="915863"/>
                </a:lnTo>
                <a:lnTo>
                  <a:pt x="2041586" y="906048"/>
                </a:lnTo>
                <a:lnTo>
                  <a:pt x="2121550" y="887434"/>
                </a:lnTo>
                <a:lnTo>
                  <a:pt x="2168609" y="868684"/>
                </a:lnTo>
                <a:lnTo>
                  <a:pt x="2225062" y="837261"/>
                </a:lnTo>
                <a:lnTo>
                  <a:pt x="2283602" y="799827"/>
                </a:lnTo>
                <a:lnTo>
                  <a:pt x="2336924" y="763046"/>
                </a:lnTo>
                <a:lnTo>
                  <a:pt x="2377719" y="733583"/>
                </a:lnTo>
                <a:lnTo>
                  <a:pt x="2398683" y="718100"/>
                </a:lnTo>
                <a:lnTo>
                  <a:pt x="2407990" y="720175"/>
                </a:lnTo>
                <a:lnTo>
                  <a:pt x="2434877" y="766645"/>
                </a:lnTo>
                <a:lnTo>
                  <a:pt x="2450265" y="809450"/>
                </a:lnTo>
                <a:lnTo>
                  <a:pt x="2465488" y="864240"/>
                </a:lnTo>
                <a:lnTo>
                  <a:pt x="2479452" y="930220"/>
                </a:lnTo>
                <a:lnTo>
                  <a:pt x="2491060" y="1006594"/>
                </a:lnTo>
                <a:lnTo>
                  <a:pt x="2490965" y="1062470"/>
                </a:lnTo>
                <a:lnTo>
                  <a:pt x="2478459" y="1119070"/>
                </a:lnTo>
                <a:lnTo>
                  <a:pt x="2456353" y="1174954"/>
                </a:lnTo>
                <a:lnTo>
                  <a:pt x="2427454" y="1228685"/>
                </a:lnTo>
                <a:lnTo>
                  <a:pt x="2394573" y="1278822"/>
                </a:lnTo>
                <a:lnTo>
                  <a:pt x="2360517" y="1323926"/>
                </a:lnTo>
                <a:lnTo>
                  <a:pt x="2328095" y="1362557"/>
                </a:lnTo>
                <a:lnTo>
                  <a:pt x="2303864" y="1389163"/>
                </a:lnTo>
                <a:lnTo>
                  <a:pt x="2206099" y="1389163"/>
                </a:lnTo>
                <a:lnTo>
                  <a:pt x="2181345" y="1390651"/>
                </a:lnTo>
                <a:lnTo>
                  <a:pt x="2159939" y="1409430"/>
                </a:lnTo>
                <a:lnTo>
                  <a:pt x="2146014" y="1441100"/>
                </a:lnTo>
                <a:lnTo>
                  <a:pt x="2143702" y="1481263"/>
                </a:lnTo>
                <a:lnTo>
                  <a:pt x="2157134" y="1525520"/>
                </a:lnTo>
                <a:lnTo>
                  <a:pt x="2190442" y="1569472"/>
                </a:lnTo>
                <a:lnTo>
                  <a:pt x="2218038" y="1595710"/>
                </a:lnTo>
                <a:lnTo>
                  <a:pt x="2262661" y="1637602"/>
                </a:lnTo>
                <a:lnTo>
                  <a:pt x="2279688" y="1654139"/>
                </a:lnTo>
                <a:lnTo>
                  <a:pt x="2255112" y="1700248"/>
                </a:lnTo>
                <a:lnTo>
                  <a:pt x="2220992" y="1754711"/>
                </a:lnTo>
                <a:lnTo>
                  <a:pt x="2183189" y="1807442"/>
                </a:lnTo>
                <a:lnTo>
                  <a:pt x="2147566" y="1848358"/>
                </a:lnTo>
                <a:lnTo>
                  <a:pt x="2097465" y="1869387"/>
                </a:lnTo>
                <a:lnTo>
                  <a:pt x="2056692" y="1869745"/>
                </a:lnTo>
                <a:close/>
              </a:path>
              <a:path w="4464050" h="1870075">
                <a:moveTo>
                  <a:pt x="2268728" y="1425225"/>
                </a:moveTo>
                <a:lnTo>
                  <a:pt x="2252997" y="1413858"/>
                </a:lnTo>
                <a:lnTo>
                  <a:pt x="2236826" y="1403666"/>
                </a:lnTo>
                <a:lnTo>
                  <a:pt x="2220949" y="1395239"/>
                </a:lnTo>
                <a:lnTo>
                  <a:pt x="2206099" y="1389163"/>
                </a:lnTo>
                <a:lnTo>
                  <a:pt x="2303864" y="1389163"/>
                </a:lnTo>
                <a:lnTo>
                  <a:pt x="2300117" y="1393277"/>
                </a:lnTo>
                <a:lnTo>
                  <a:pt x="2279392" y="1414646"/>
                </a:lnTo>
                <a:lnTo>
                  <a:pt x="2268728" y="1425225"/>
                </a:lnTo>
                <a:close/>
              </a:path>
              <a:path w="4464050" h="1870075">
                <a:moveTo>
                  <a:pt x="4369924" y="1434632"/>
                </a:moveTo>
                <a:lnTo>
                  <a:pt x="3937785" y="1434632"/>
                </a:lnTo>
                <a:lnTo>
                  <a:pt x="3901309" y="1427209"/>
                </a:lnTo>
                <a:lnTo>
                  <a:pt x="3871438" y="1406998"/>
                </a:lnTo>
                <a:lnTo>
                  <a:pt x="3851255" y="1377085"/>
                </a:lnTo>
                <a:lnTo>
                  <a:pt x="3843842" y="1340558"/>
                </a:lnTo>
                <a:lnTo>
                  <a:pt x="3843842" y="907816"/>
                </a:lnTo>
                <a:lnTo>
                  <a:pt x="3851255" y="871289"/>
                </a:lnTo>
                <a:lnTo>
                  <a:pt x="3871438" y="841376"/>
                </a:lnTo>
                <a:lnTo>
                  <a:pt x="3901309" y="821165"/>
                </a:lnTo>
                <a:lnTo>
                  <a:pt x="3937785" y="813742"/>
                </a:lnTo>
                <a:lnTo>
                  <a:pt x="4369924" y="813742"/>
                </a:lnTo>
                <a:lnTo>
                  <a:pt x="4406400" y="821165"/>
                </a:lnTo>
                <a:lnTo>
                  <a:pt x="4436271" y="841376"/>
                </a:lnTo>
                <a:lnTo>
                  <a:pt x="4456455" y="871289"/>
                </a:lnTo>
                <a:lnTo>
                  <a:pt x="4463867" y="907816"/>
                </a:lnTo>
                <a:lnTo>
                  <a:pt x="4463867" y="1340558"/>
                </a:lnTo>
                <a:lnTo>
                  <a:pt x="4456455" y="1377085"/>
                </a:lnTo>
                <a:lnTo>
                  <a:pt x="4436271" y="1406998"/>
                </a:lnTo>
                <a:lnTo>
                  <a:pt x="4406400" y="1427209"/>
                </a:lnTo>
                <a:lnTo>
                  <a:pt x="4369924" y="1434632"/>
                </a:lnTo>
                <a:close/>
              </a:path>
            </a:pathLst>
          </a:custGeom>
          <a:solidFill>
            <a:srgbClr val="3778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3246" y="5951703"/>
            <a:ext cx="6522720" cy="4327525"/>
          </a:xfrm>
          <a:custGeom>
            <a:avLst/>
            <a:gdLst/>
            <a:ahLst/>
            <a:cxnLst/>
            <a:rect l="l" t="t" r="r" b="b"/>
            <a:pathLst>
              <a:path w="6522720" h="4327525">
                <a:moveTo>
                  <a:pt x="3310364" y="2243671"/>
                </a:moveTo>
                <a:lnTo>
                  <a:pt x="1781349" y="2243671"/>
                </a:lnTo>
                <a:lnTo>
                  <a:pt x="1806009" y="2218977"/>
                </a:lnTo>
                <a:lnTo>
                  <a:pt x="1855329" y="2183699"/>
                </a:lnTo>
                <a:lnTo>
                  <a:pt x="2148926" y="2088816"/>
                </a:lnTo>
                <a:lnTo>
                  <a:pt x="2314672" y="2045527"/>
                </a:lnTo>
                <a:lnTo>
                  <a:pt x="2398511" y="2029579"/>
                </a:lnTo>
                <a:lnTo>
                  <a:pt x="2421728" y="2027300"/>
                </a:lnTo>
                <a:lnTo>
                  <a:pt x="2460871" y="1915979"/>
                </a:lnTo>
                <a:lnTo>
                  <a:pt x="2910697" y="1989401"/>
                </a:lnTo>
                <a:lnTo>
                  <a:pt x="3090290" y="2016325"/>
                </a:lnTo>
                <a:lnTo>
                  <a:pt x="3113776" y="2135486"/>
                </a:lnTo>
                <a:lnTo>
                  <a:pt x="3310364" y="2243671"/>
                </a:lnTo>
                <a:close/>
              </a:path>
              <a:path w="6522720" h="4327525">
                <a:moveTo>
                  <a:pt x="5641011" y="2961771"/>
                </a:moveTo>
                <a:lnTo>
                  <a:pt x="4820411" y="2961771"/>
                </a:lnTo>
                <a:lnTo>
                  <a:pt x="5498368" y="2137054"/>
                </a:lnTo>
                <a:lnTo>
                  <a:pt x="6007227" y="2453770"/>
                </a:lnTo>
                <a:lnTo>
                  <a:pt x="5641011" y="2961771"/>
                </a:lnTo>
                <a:close/>
              </a:path>
              <a:path w="6522720" h="4327525">
                <a:moveTo>
                  <a:pt x="840351" y="4327416"/>
                </a:moveTo>
                <a:lnTo>
                  <a:pt x="41834" y="4327416"/>
                </a:lnTo>
                <a:lnTo>
                  <a:pt x="19082" y="4320606"/>
                </a:lnTo>
                <a:lnTo>
                  <a:pt x="4256" y="4303506"/>
                </a:lnTo>
                <a:lnTo>
                  <a:pt x="0" y="4281114"/>
                </a:lnTo>
                <a:lnTo>
                  <a:pt x="8953" y="4258429"/>
                </a:lnTo>
                <a:lnTo>
                  <a:pt x="37939" y="4221623"/>
                </a:lnTo>
                <a:lnTo>
                  <a:pt x="68475" y="4183329"/>
                </a:lnTo>
                <a:lnTo>
                  <a:pt x="100481" y="4143629"/>
                </a:lnTo>
                <a:lnTo>
                  <a:pt x="133876" y="4102609"/>
                </a:lnTo>
                <a:lnTo>
                  <a:pt x="204507" y="4016946"/>
                </a:lnTo>
                <a:lnTo>
                  <a:pt x="279718" y="3927016"/>
                </a:lnTo>
                <a:lnTo>
                  <a:pt x="358861" y="3833495"/>
                </a:lnTo>
                <a:lnTo>
                  <a:pt x="483526" y="3687961"/>
                </a:lnTo>
                <a:lnTo>
                  <a:pt x="657448" y="3487661"/>
                </a:lnTo>
                <a:lnTo>
                  <a:pt x="924284" y="3184800"/>
                </a:lnTo>
                <a:lnTo>
                  <a:pt x="1341605" y="2718694"/>
                </a:lnTo>
                <a:lnTo>
                  <a:pt x="1779319" y="2237981"/>
                </a:lnTo>
                <a:lnTo>
                  <a:pt x="1781349" y="2235832"/>
                </a:lnTo>
                <a:lnTo>
                  <a:pt x="1781349" y="2243671"/>
                </a:lnTo>
                <a:lnTo>
                  <a:pt x="3310364" y="2243671"/>
                </a:lnTo>
                <a:lnTo>
                  <a:pt x="3635161" y="2422412"/>
                </a:lnTo>
                <a:lnTo>
                  <a:pt x="4820411" y="2961771"/>
                </a:lnTo>
                <a:lnTo>
                  <a:pt x="5641011" y="2961771"/>
                </a:lnTo>
                <a:lnTo>
                  <a:pt x="5312094" y="3418032"/>
                </a:lnTo>
                <a:lnTo>
                  <a:pt x="3647687" y="3418032"/>
                </a:lnTo>
                <a:lnTo>
                  <a:pt x="3654547" y="3913490"/>
                </a:lnTo>
                <a:lnTo>
                  <a:pt x="1211426" y="3913490"/>
                </a:lnTo>
                <a:lnTo>
                  <a:pt x="848179" y="4322713"/>
                </a:lnTo>
                <a:lnTo>
                  <a:pt x="845048" y="4325849"/>
                </a:lnTo>
                <a:lnTo>
                  <a:pt x="840351" y="4327416"/>
                </a:lnTo>
                <a:close/>
              </a:path>
              <a:path w="6522720" h="4327525">
                <a:moveTo>
                  <a:pt x="4901630" y="3754899"/>
                </a:moveTo>
                <a:lnTo>
                  <a:pt x="4854345" y="3752768"/>
                </a:lnTo>
                <a:lnTo>
                  <a:pt x="4806320" y="3744156"/>
                </a:lnTo>
                <a:lnTo>
                  <a:pt x="4589190" y="3688841"/>
                </a:lnTo>
                <a:lnTo>
                  <a:pt x="4243443" y="3595205"/>
                </a:lnTo>
                <a:lnTo>
                  <a:pt x="3886508" y="3491965"/>
                </a:lnTo>
                <a:lnTo>
                  <a:pt x="3647687" y="3418032"/>
                </a:lnTo>
                <a:lnTo>
                  <a:pt x="5312094" y="3418032"/>
                </a:lnTo>
                <a:lnTo>
                  <a:pt x="5222801" y="3541896"/>
                </a:lnTo>
                <a:lnTo>
                  <a:pt x="5201561" y="3581876"/>
                </a:lnTo>
                <a:lnTo>
                  <a:pt x="5175705" y="3618619"/>
                </a:lnTo>
                <a:lnTo>
                  <a:pt x="5145663" y="3651764"/>
                </a:lnTo>
                <a:lnTo>
                  <a:pt x="5111867" y="3680951"/>
                </a:lnTo>
                <a:lnTo>
                  <a:pt x="5074746" y="3705819"/>
                </a:lnTo>
                <a:lnTo>
                  <a:pt x="5034731" y="3726009"/>
                </a:lnTo>
                <a:lnTo>
                  <a:pt x="4992253" y="3741159"/>
                </a:lnTo>
                <a:lnTo>
                  <a:pt x="4947743" y="3750909"/>
                </a:lnTo>
                <a:lnTo>
                  <a:pt x="4901630" y="3754899"/>
                </a:lnTo>
                <a:close/>
              </a:path>
              <a:path w="6522720" h="4327525">
                <a:moveTo>
                  <a:pt x="3660213" y="4322713"/>
                </a:moveTo>
                <a:lnTo>
                  <a:pt x="1131575" y="4322713"/>
                </a:lnTo>
                <a:lnTo>
                  <a:pt x="1137006" y="4292727"/>
                </a:lnTo>
                <a:lnTo>
                  <a:pt x="1152712" y="4208648"/>
                </a:lnTo>
                <a:lnTo>
                  <a:pt x="1177812" y="4079296"/>
                </a:lnTo>
                <a:lnTo>
                  <a:pt x="1211426" y="3913490"/>
                </a:lnTo>
                <a:lnTo>
                  <a:pt x="3654547" y="3913490"/>
                </a:lnTo>
                <a:lnTo>
                  <a:pt x="3660183" y="4320606"/>
                </a:lnTo>
                <a:lnTo>
                  <a:pt x="3660213" y="4322713"/>
                </a:lnTo>
                <a:close/>
              </a:path>
              <a:path w="6522720" h="4327525">
                <a:moveTo>
                  <a:pt x="1173849" y="575421"/>
                </a:moveTo>
                <a:lnTo>
                  <a:pt x="1125312" y="575421"/>
                </a:lnTo>
                <a:lnTo>
                  <a:pt x="1116578" y="573755"/>
                </a:lnTo>
                <a:lnTo>
                  <a:pt x="1109459" y="569149"/>
                </a:lnTo>
                <a:lnTo>
                  <a:pt x="1104395" y="562191"/>
                </a:lnTo>
                <a:lnTo>
                  <a:pt x="1101826" y="553470"/>
                </a:lnTo>
                <a:lnTo>
                  <a:pt x="1101329" y="542372"/>
                </a:lnTo>
                <a:lnTo>
                  <a:pt x="1101288" y="541441"/>
                </a:lnTo>
                <a:lnTo>
                  <a:pt x="1095563" y="503297"/>
                </a:lnTo>
                <a:lnTo>
                  <a:pt x="1075796" y="437249"/>
                </a:lnTo>
                <a:lnTo>
                  <a:pt x="1045460" y="374729"/>
                </a:lnTo>
                <a:lnTo>
                  <a:pt x="1021811" y="323314"/>
                </a:lnTo>
                <a:lnTo>
                  <a:pt x="1008459" y="273103"/>
                </a:lnTo>
                <a:lnTo>
                  <a:pt x="1004426" y="224925"/>
                </a:lnTo>
                <a:lnTo>
                  <a:pt x="1008735" y="179606"/>
                </a:lnTo>
                <a:lnTo>
                  <a:pt x="1020409" y="137975"/>
                </a:lnTo>
                <a:lnTo>
                  <a:pt x="1030646" y="111811"/>
                </a:lnTo>
                <a:lnTo>
                  <a:pt x="1030733" y="111590"/>
                </a:lnTo>
                <a:lnTo>
                  <a:pt x="1064885" y="64112"/>
                </a:lnTo>
                <a:lnTo>
                  <a:pt x="1122596" y="24474"/>
                </a:lnTo>
                <a:lnTo>
                  <a:pt x="1158388" y="10779"/>
                </a:lnTo>
                <a:lnTo>
                  <a:pt x="1195647" y="2670"/>
                </a:lnTo>
                <a:lnTo>
                  <a:pt x="1233347" y="0"/>
                </a:lnTo>
                <a:lnTo>
                  <a:pt x="1270826" y="2008"/>
                </a:lnTo>
                <a:lnTo>
                  <a:pt x="1343436" y="24253"/>
                </a:lnTo>
                <a:lnTo>
                  <a:pt x="1377393" y="43901"/>
                </a:lnTo>
                <a:lnTo>
                  <a:pt x="1421233" y="87410"/>
                </a:lnTo>
                <a:lnTo>
                  <a:pt x="1446284" y="137975"/>
                </a:lnTo>
                <a:lnTo>
                  <a:pt x="1457771" y="181651"/>
                </a:lnTo>
                <a:lnTo>
                  <a:pt x="1459392" y="202259"/>
                </a:lnTo>
                <a:lnTo>
                  <a:pt x="1134706" y="202259"/>
                </a:lnTo>
                <a:lnTo>
                  <a:pt x="1130009" y="203827"/>
                </a:lnTo>
                <a:lnTo>
                  <a:pt x="1125312" y="206963"/>
                </a:lnTo>
                <a:lnTo>
                  <a:pt x="1123746" y="211667"/>
                </a:lnTo>
                <a:lnTo>
                  <a:pt x="1123746" y="216370"/>
                </a:lnTo>
                <a:lnTo>
                  <a:pt x="1173849" y="575421"/>
                </a:lnTo>
                <a:close/>
              </a:path>
              <a:path w="6522720" h="4327525">
                <a:moveTo>
                  <a:pt x="1225518" y="275951"/>
                </a:moveTo>
                <a:lnTo>
                  <a:pt x="1142535" y="205395"/>
                </a:lnTo>
                <a:lnTo>
                  <a:pt x="1139403" y="202259"/>
                </a:lnTo>
                <a:lnTo>
                  <a:pt x="1311633" y="202259"/>
                </a:lnTo>
                <a:lnTo>
                  <a:pt x="1308501" y="205395"/>
                </a:lnTo>
                <a:lnTo>
                  <a:pt x="1225518" y="275951"/>
                </a:lnTo>
                <a:close/>
              </a:path>
              <a:path w="6522720" h="4327525">
                <a:moveTo>
                  <a:pt x="1342947" y="575421"/>
                </a:moveTo>
                <a:lnTo>
                  <a:pt x="1286581" y="575421"/>
                </a:lnTo>
                <a:lnTo>
                  <a:pt x="1327290" y="214802"/>
                </a:lnTo>
                <a:lnTo>
                  <a:pt x="1327290" y="210099"/>
                </a:lnTo>
                <a:lnTo>
                  <a:pt x="1325724" y="205395"/>
                </a:lnTo>
                <a:lnTo>
                  <a:pt x="1321027" y="203827"/>
                </a:lnTo>
                <a:lnTo>
                  <a:pt x="1317895" y="202259"/>
                </a:lnTo>
                <a:lnTo>
                  <a:pt x="1459392" y="202259"/>
                </a:lnTo>
                <a:lnTo>
                  <a:pt x="1461516" y="229240"/>
                </a:lnTo>
                <a:lnTo>
                  <a:pt x="1456543" y="279764"/>
                </a:lnTo>
                <a:lnTo>
                  <a:pt x="1441875" y="332245"/>
                </a:lnTo>
                <a:lnTo>
                  <a:pt x="1416536" y="385704"/>
                </a:lnTo>
                <a:lnTo>
                  <a:pt x="1401539" y="414490"/>
                </a:lnTo>
                <a:lnTo>
                  <a:pt x="1389331" y="444304"/>
                </a:lnTo>
                <a:lnTo>
                  <a:pt x="1372696" y="506433"/>
                </a:lnTo>
                <a:lnTo>
                  <a:pt x="1366433" y="553470"/>
                </a:lnTo>
                <a:lnTo>
                  <a:pt x="1363864" y="562191"/>
                </a:lnTo>
                <a:lnTo>
                  <a:pt x="1358800" y="569149"/>
                </a:lnTo>
                <a:lnTo>
                  <a:pt x="1351681" y="573755"/>
                </a:lnTo>
                <a:lnTo>
                  <a:pt x="1342947" y="575421"/>
                </a:lnTo>
                <a:close/>
              </a:path>
              <a:path w="6522720" h="4327525">
                <a:moveTo>
                  <a:pt x="1261529" y="575421"/>
                </a:moveTo>
                <a:lnTo>
                  <a:pt x="1194204" y="575421"/>
                </a:lnTo>
                <a:lnTo>
                  <a:pt x="1194190" y="573755"/>
                </a:lnTo>
                <a:lnTo>
                  <a:pt x="1147232" y="243025"/>
                </a:lnTo>
                <a:lnTo>
                  <a:pt x="1214558" y="301037"/>
                </a:lnTo>
                <a:lnTo>
                  <a:pt x="1219255" y="304173"/>
                </a:lnTo>
                <a:lnTo>
                  <a:pt x="1292161" y="304173"/>
                </a:lnTo>
                <a:lnTo>
                  <a:pt x="1261541" y="573755"/>
                </a:lnTo>
                <a:lnTo>
                  <a:pt x="1261529" y="575421"/>
                </a:lnTo>
                <a:close/>
              </a:path>
              <a:path w="6522720" h="4327525">
                <a:moveTo>
                  <a:pt x="1292161" y="304173"/>
                </a:moveTo>
                <a:lnTo>
                  <a:pt x="1225518" y="304173"/>
                </a:lnTo>
                <a:lnTo>
                  <a:pt x="1230215" y="301037"/>
                </a:lnTo>
                <a:lnTo>
                  <a:pt x="1299107" y="243025"/>
                </a:lnTo>
                <a:lnTo>
                  <a:pt x="1292161" y="304173"/>
                </a:lnTo>
                <a:close/>
              </a:path>
              <a:path w="6522720" h="4327525">
                <a:moveTo>
                  <a:pt x="5916415" y="1773300"/>
                </a:moveTo>
                <a:lnTo>
                  <a:pt x="5773935" y="1773300"/>
                </a:lnTo>
                <a:lnTo>
                  <a:pt x="5749862" y="1768376"/>
                </a:lnTo>
                <a:lnTo>
                  <a:pt x="5730486" y="1755073"/>
                </a:lnTo>
                <a:lnTo>
                  <a:pt x="5717569" y="1735596"/>
                </a:lnTo>
                <a:lnTo>
                  <a:pt x="5712871" y="1712151"/>
                </a:lnTo>
                <a:lnTo>
                  <a:pt x="5712871" y="1130459"/>
                </a:lnTo>
                <a:lnTo>
                  <a:pt x="5717789" y="1106352"/>
                </a:lnTo>
                <a:lnTo>
                  <a:pt x="5731073" y="1086949"/>
                </a:lnTo>
                <a:lnTo>
                  <a:pt x="5750522" y="1074014"/>
                </a:lnTo>
                <a:lnTo>
                  <a:pt x="5773935" y="1069310"/>
                </a:lnTo>
                <a:lnTo>
                  <a:pt x="6354817" y="1069310"/>
                </a:lnTo>
                <a:lnTo>
                  <a:pt x="6378890" y="1074235"/>
                </a:lnTo>
                <a:lnTo>
                  <a:pt x="6398265" y="1087537"/>
                </a:lnTo>
                <a:lnTo>
                  <a:pt x="6411183" y="1107014"/>
                </a:lnTo>
                <a:lnTo>
                  <a:pt x="6415880" y="1130459"/>
                </a:lnTo>
                <a:lnTo>
                  <a:pt x="6415880" y="1320175"/>
                </a:lnTo>
                <a:lnTo>
                  <a:pt x="6419011" y="1320175"/>
                </a:lnTo>
                <a:lnTo>
                  <a:pt x="6458497" y="1328113"/>
                </a:lnTo>
                <a:lnTo>
                  <a:pt x="6490643" y="1349573"/>
                </a:lnTo>
                <a:lnTo>
                  <a:pt x="6512808" y="1381030"/>
                </a:lnTo>
                <a:lnTo>
                  <a:pt x="6522349" y="1418953"/>
                </a:lnTo>
                <a:lnTo>
                  <a:pt x="6514373" y="1458690"/>
                </a:lnTo>
                <a:lnTo>
                  <a:pt x="6492600" y="1491077"/>
                </a:lnTo>
                <a:lnTo>
                  <a:pt x="6460258" y="1512881"/>
                </a:lnTo>
                <a:lnTo>
                  <a:pt x="6420577" y="1520867"/>
                </a:lnTo>
                <a:lnTo>
                  <a:pt x="6417445" y="1520867"/>
                </a:lnTo>
                <a:lnTo>
                  <a:pt x="6417445" y="1611806"/>
                </a:lnTo>
                <a:lnTo>
                  <a:pt x="6057330" y="1611806"/>
                </a:lnTo>
                <a:lnTo>
                  <a:pt x="6040376" y="1627999"/>
                </a:lnTo>
                <a:lnTo>
                  <a:pt x="6007423" y="1664918"/>
                </a:lnTo>
                <a:lnTo>
                  <a:pt x="5964194" y="1715655"/>
                </a:lnTo>
                <a:lnTo>
                  <a:pt x="5916415" y="1773300"/>
                </a:lnTo>
                <a:close/>
              </a:path>
              <a:path w="6522720" h="4327525">
                <a:moveTo>
                  <a:pt x="6356382" y="1771732"/>
                </a:moveTo>
                <a:lnTo>
                  <a:pt x="6215468" y="1771732"/>
                </a:lnTo>
                <a:lnTo>
                  <a:pt x="6197413" y="1768914"/>
                </a:lnTo>
                <a:lnTo>
                  <a:pt x="6181413" y="1760952"/>
                </a:lnTo>
                <a:lnTo>
                  <a:pt x="6168349" y="1748581"/>
                </a:lnTo>
                <a:lnTo>
                  <a:pt x="6159102" y="1732534"/>
                </a:lnTo>
                <a:lnTo>
                  <a:pt x="6149194" y="1714699"/>
                </a:lnTo>
                <a:lnTo>
                  <a:pt x="6136203" y="1699216"/>
                </a:lnTo>
                <a:lnTo>
                  <a:pt x="6120570" y="1686673"/>
                </a:lnTo>
                <a:lnTo>
                  <a:pt x="6102736" y="1677658"/>
                </a:lnTo>
                <a:lnTo>
                  <a:pt x="6102736" y="1676090"/>
                </a:lnTo>
                <a:lnTo>
                  <a:pt x="6104301" y="1674522"/>
                </a:lnTo>
                <a:lnTo>
                  <a:pt x="6104301" y="1672954"/>
                </a:lnTo>
                <a:lnTo>
                  <a:pt x="6105329" y="1647304"/>
                </a:lnTo>
                <a:lnTo>
                  <a:pt x="6094907" y="1625329"/>
                </a:lnTo>
                <a:lnTo>
                  <a:pt x="6077344" y="1611806"/>
                </a:lnTo>
                <a:lnTo>
                  <a:pt x="6417445" y="1611806"/>
                </a:lnTo>
                <a:lnTo>
                  <a:pt x="6417445" y="1710584"/>
                </a:lnTo>
                <a:lnTo>
                  <a:pt x="6412528" y="1734690"/>
                </a:lnTo>
                <a:lnTo>
                  <a:pt x="6399244" y="1754093"/>
                </a:lnTo>
                <a:lnTo>
                  <a:pt x="6379795" y="1767028"/>
                </a:lnTo>
                <a:lnTo>
                  <a:pt x="6356382" y="1771732"/>
                </a:lnTo>
                <a:close/>
              </a:path>
            </a:pathLst>
          </a:custGeom>
          <a:solidFill>
            <a:srgbClr val="E89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74822" y="6077135"/>
            <a:ext cx="5624195" cy="660400"/>
          </a:xfrm>
          <a:custGeom>
            <a:avLst/>
            <a:gdLst/>
            <a:ahLst/>
            <a:cxnLst/>
            <a:rect l="l" t="t" r="r" b="b"/>
            <a:pathLst>
              <a:path w="5624195" h="660400">
                <a:moveTo>
                  <a:pt x="123691" y="653816"/>
                </a:moveTo>
                <a:lnTo>
                  <a:pt x="76720" y="653816"/>
                </a:lnTo>
                <a:lnTo>
                  <a:pt x="46898" y="647765"/>
                </a:lnTo>
                <a:lnTo>
                  <a:pt x="22507" y="631277"/>
                </a:lnTo>
                <a:lnTo>
                  <a:pt x="6042" y="606852"/>
                </a:lnTo>
                <a:lnTo>
                  <a:pt x="0" y="576988"/>
                </a:lnTo>
                <a:lnTo>
                  <a:pt x="198846" y="576988"/>
                </a:lnTo>
                <a:lnTo>
                  <a:pt x="193708" y="606852"/>
                </a:lnTo>
                <a:lnTo>
                  <a:pt x="177709" y="631277"/>
                </a:lnTo>
                <a:lnTo>
                  <a:pt x="153489" y="647765"/>
                </a:lnTo>
                <a:lnTo>
                  <a:pt x="123691" y="653816"/>
                </a:lnTo>
                <a:close/>
              </a:path>
              <a:path w="5624195" h="660400">
                <a:moveTo>
                  <a:pt x="5105030" y="367281"/>
                </a:moveTo>
                <a:lnTo>
                  <a:pt x="5072443" y="363508"/>
                </a:lnTo>
                <a:lnTo>
                  <a:pt x="5041618" y="351210"/>
                </a:lnTo>
                <a:lnTo>
                  <a:pt x="4575033" y="87802"/>
                </a:lnTo>
                <a:lnTo>
                  <a:pt x="4575033" y="73691"/>
                </a:lnTo>
                <a:lnTo>
                  <a:pt x="4580807" y="44979"/>
                </a:lnTo>
                <a:lnTo>
                  <a:pt x="4596562" y="21558"/>
                </a:lnTo>
                <a:lnTo>
                  <a:pt x="4619950" y="5781"/>
                </a:lnTo>
                <a:lnTo>
                  <a:pt x="4648622" y="0"/>
                </a:lnTo>
                <a:lnTo>
                  <a:pt x="5550477" y="0"/>
                </a:lnTo>
                <a:lnTo>
                  <a:pt x="5577143" y="5242"/>
                </a:lnTo>
                <a:lnTo>
                  <a:pt x="5599406" y="19598"/>
                </a:lnTo>
                <a:lnTo>
                  <a:pt x="5615210" y="41010"/>
                </a:lnTo>
                <a:lnTo>
                  <a:pt x="5622500" y="67419"/>
                </a:lnTo>
                <a:lnTo>
                  <a:pt x="5168441" y="348074"/>
                </a:lnTo>
                <a:lnTo>
                  <a:pt x="5137616" y="362234"/>
                </a:lnTo>
                <a:lnTo>
                  <a:pt x="5105030" y="367281"/>
                </a:lnTo>
                <a:close/>
              </a:path>
              <a:path w="5624195" h="660400">
                <a:moveTo>
                  <a:pt x="5624066" y="391976"/>
                </a:moveTo>
                <a:lnTo>
                  <a:pt x="5102681" y="391976"/>
                </a:lnTo>
                <a:lnTo>
                  <a:pt x="5123500" y="390530"/>
                </a:lnTo>
                <a:lnTo>
                  <a:pt x="5143585" y="386292"/>
                </a:lnTo>
                <a:lnTo>
                  <a:pt x="5162790" y="379408"/>
                </a:lnTo>
                <a:lnTo>
                  <a:pt x="5180967" y="370025"/>
                </a:lnTo>
                <a:lnTo>
                  <a:pt x="5624066" y="95642"/>
                </a:lnTo>
                <a:lnTo>
                  <a:pt x="5624066" y="391976"/>
                </a:lnTo>
                <a:close/>
              </a:path>
              <a:path w="5624195" h="660400">
                <a:moveTo>
                  <a:pt x="5550477" y="660087"/>
                </a:moveTo>
                <a:lnTo>
                  <a:pt x="4648622" y="660087"/>
                </a:lnTo>
                <a:lnTo>
                  <a:pt x="4619950" y="654306"/>
                </a:lnTo>
                <a:lnTo>
                  <a:pt x="4596562" y="638529"/>
                </a:lnTo>
                <a:lnTo>
                  <a:pt x="4580807" y="615108"/>
                </a:lnTo>
                <a:lnTo>
                  <a:pt x="4575033" y="586396"/>
                </a:lnTo>
                <a:lnTo>
                  <a:pt x="4575033" y="116024"/>
                </a:lnTo>
                <a:lnTo>
                  <a:pt x="5030658" y="373161"/>
                </a:lnTo>
                <a:lnTo>
                  <a:pt x="5047636" y="381392"/>
                </a:lnTo>
                <a:lnTo>
                  <a:pt x="5065495" y="387272"/>
                </a:lnTo>
                <a:lnTo>
                  <a:pt x="5083941" y="390800"/>
                </a:lnTo>
                <a:lnTo>
                  <a:pt x="5102681" y="391976"/>
                </a:lnTo>
                <a:lnTo>
                  <a:pt x="5624066" y="391976"/>
                </a:lnTo>
                <a:lnTo>
                  <a:pt x="5624066" y="586396"/>
                </a:lnTo>
                <a:lnTo>
                  <a:pt x="5618292" y="615108"/>
                </a:lnTo>
                <a:lnTo>
                  <a:pt x="5602537" y="638529"/>
                </a:lnTo>
                <a:lnTo>
                  <a:pt x="5579149" y="654306"/>
                </a:lnTo>
                <a:lnTo>
                  <a:pt x="5550477" y="660087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50306" y="5649097"/>
            <a:ext cx="6568440" cy="4634865"/>
          </a:xfrm>
          <a:custGeom>
            <a:avLst/>
            <a:gdLst/>
            <a:ahLst/>
            <a:cxnLst/>
            <a:rect l="l" t="t" r="r" b="b"/>
            <a:pathLst>
              <a:path w="6568440" h="4634865">
                <a:moveTo>
                  <a:pt x="4985252" y="2489199"/>
                </a:moveTo>
                <a:lnTo>
                  <a:pt x="4963332" y="2476499"/>
                </a:lnTo>
                <a:lnTo>
                  <a:pt x="4965950" y="2463799"/>
                </a:lnTo>
                <a:lnTo>
                  <a:pt x="4969008" y="2451099"/>
                </a:lnTo>
                <a:lnTo>
                  <a:pt x="4972359" y="2438399"/>
                </a:lnTo>
                <a:lnTo>
                  <a:pt x="4975858" y="2412999"/>
                </a:lnTo>
                <a:lnTo>
                  <a:pt x="3133764" y="2412999"/>
                </a:lnTo>
                <a:lnTo>
                  <a:pt x="3107367" y="2387599"/>
                </a:lnTo>
                <a:lnTo>
                  <a:pt x="3089483" y="2362199"/>
                </a:lnTo>
                <a:lnTo>
                  <a:pt x="3082902" y="2336799"/>
                </a:lnTo>
                <a:lnTo>
                  <a:pt x="3082902" y="76199"/>
                </a:lnTo>
                <a:lnTo>
                  <a:pt x="3089483" y="50799"/>
                </a:lnTo>
                <a:lnTo>
                  <a:pt x="3107367" y="12699"/>
                </a:lnTo>
                <a:lnTo>
                  <a:pt x="3133764" y="0"/>
                </a:lnTo>
                <a:lnTo>
                  <a:pt x="6519535" y="0"/>
                </a:lnTo>
                <a:lnTo>
                  <a:pt x="6545688" y="12699"/>
                </a:lnTo>
                <a:lnTo>
                  <a:pt x="3165885" y="12699"/>
                </a:lnTo>
                <a:lnTo>
                  <a:pt x="3142718" y="25399"/>
                </a:lnTo>
                <a:lnTo>
                  <a:pt x="3123807" y="38099"/>
                </a:lnTo>
                <a:lnTo>
                  <a:pt x="3111061" y="50799"/>
                </a:lnTo>
                <a:lnTo>
                  <a:pt x="3106388" y="76199"/>
                </a:lnTo>
                <a:lnTo>
                  <a:pt x="3106388" y="2336799"/>
                </a:lnTo>
                <a:lnTo>
                  <a:pt x="3111061" y="2362199"/>
                </a:lnTo>
                <a:lnTo>
                  <a:pt x="3123807" y="2374899"/>
                </a:lnTo>
                <a:lnTo>
                  <a:pt x="3142718" y="2387599"/>
                </a:lnTo>
                <a:lnTo>
                  <a:pt x="3165885" y="2400299"/>
                </a:lnTo>
                <a:lnTo>
                  <a:pt x="5003089" y="2400299"/>
                </a:lnTo>
                <a:lnTo>
                  <a:pt x="4992930" y="2451099"/>
                </a:lnTo>
                <a:lnTo>
                  <a:pt x="4985252" y="2489199"/>
                </a:lnTo>
                <a:close/>
              </a:path>
              <a:path w="6568440" h="4634865">
                <a:moveTo>
                  <a:pt x="6517333" y="2400299"/>
                </a:moveTo>
                <a:lnTo>
                  <a:pt x="6486777" y="2400299"/>
                </a:lnTo>
                <a:lnTo>
                  <a:pt x="6509945" y="2387599"/>
                </a:lnTo>
                <a:lnTo>
                  <a:pt x="6528856" y="2374899"/>
                </a:lnTo>
                <a:lnTo>
                  <a:pt x="6541602" y="2362199"/>
                </a:lnTo>
                <a:lnTo>
                  <a:pt x="6546275" y="2336799"/>
                </a:lnTo>
                <a:lnTo>
                  <a:pt x="6546275" y="76199"/>
                </a:lnTo>
                <a:lnTo>
                  <a:pt x="6541602" y="50799"/>
                </a:lnTo>
                <a:lnTo>
                  <a:pt x="6528856" y="38099"/>
                </a:lnTo>
                <a:lnTo>
                  <a:pt x="6509945" y="25399"/>
                </a:lnTo>
                <a:lnTo>
                  <a:pt x="6486777" y="12699"/>
                </a:lnTo>
                <a:lnTo>
                  <a:pt x="6545688" y="12699"/>
                </a:lnTo>
                <a:lnTo>
                  <a:pt x="6562739" y="50799"/>
                </a:lnTo>
                <a:lnTo>
                  <a:pt x="6568195" y="76199"/>
                </a:lnTo>
                <a:lnTo>
                  <a:pt x="6568195" y="2324099"/>
                </a:lnTo>
                <a:lnTo>
                  <a:pt x="6561614" y="2362199"/>
                </a:lnTo>
                <a:lnTo>
                  <a:pt x="6543731" y="2387599"/>
                </a:lnTo>
                <a:lnTo>
                  <a:pt x="6517333" y="2400299"/>
                </a:lnTo>
                <a:close/>
              </a:path>
              <a:path w="6568440" h="4634865">
                <a:moveTo>
                  <a:pt x="4016071" y="1460499"/>
                </a:moveTo>
                <a:lnTo>
                  <a:pt x="3471568" y="1460499"/>
                </a:lnTo>
                <a:lnTo>
                  <a:pt x="3439691" y="1435099"/>
                </a:lnTo>
                <a:lnTo>
                  <a:pt x="3418089" y="1396999"/>
                </a:lnTo>
                <a:lnTo>
                  <a:pt x="3410138" y="1358899"/>
                </a:lnTo>
                <a:lnTo>
                  <a:pt x="3410138" y="533399"/>
                </a:lnTo>
                <a:lnTo>
                  <a:pt x="3418089" y="495299"/>
                </a:lnTo>
                <a:lnTo>
                  <a:pt x="3439691" y="457199"/>
                </a:lnTo>
                <a:lnTo>
                  <a:pt x="3471568" y="431799"/>
                </a:lnTo>
                <a:lnTo>
                  <a:pt x="4382083" y="431799"/>
                </a:lnTo>
                <a:lnTo>
                  <a:pt x="4413960" y="457199"/>
                </a:lnTo>
                <a:lnTo>
                  <a:pt x="3480522" y="457199"/>
                </a:lnTo>
                <a:lnTo>
                  <a:pt x="3456131" y="469899"/>
                </a:lnTo>
                <a:lnTo>
                  <a:pt x="3439666" y="495299"/>
                </a:lnTo>
                <a:lnTo>
                  <a:pt x="3433623" y="533399"/>
                </a:lnTo>
                <a:lnTo>
                  <a:pt x="3433623" y="1358899"/>
                </a:lnTo>
                <a:lnTo>
                  <a:pt x="3439666" y="1396999"/>
                </a:lnTo>
                <a:lnTo>
                  <a:pt x="3456131" y="1422399"/>
                </a:lnTo>
                <a:lnTo>
                  <a:pt x="3480522" y="1435099"/>
                </a:lnTo>
                <a:lnTo>
                  <a:pt x="4016071" y="1435099"/>
                </a:lnTo>
                <a:lnTo>
                  <a:pt x="4016071" y="1460499"/>
                </a:lnTo>
                <a:close/>
              </a:path>
              <a:path w="6568440" h="4634865">
                <a:moveTo>
                  <a:pt x="4482343" y="609599"/>
                </a:moveTo>
                <a:lnTo>
                  <a:pt x="4443513" y="609599"/>
                </a:lnTo>
                <a:lnTo>
                  <a:pt x="4545285" y="507999"/>
                </a:lnTo>
                <a:lnTo>
                  <a:pt x="4509273" y="469899"/>
                </a:lnTo>
                <a:lnTo>
                  <a:pt x="4510839" y="457199"/>
                </a:lnTo>
                <a:lnTo>
                  <a:pt x="4517102" y="457199"/>
                </a:lnTo>
                <a:lnTo>
                  <a:pt x="4629834" y="431799"/>
                </a:lnTo>
                <a:lnTo>
                  <a:pt x="4647056" y="431799"/>
                </a:lnTo>
                <a:lnTo>
                  <a:pt x="4647056" y="444499"/>
                </a:lnTo>
                <a:lnTo>
                  <a:pt x="4621222" y="520699"/>
                </a:lnTo>
                <a:lnTo>
                  <a:pt x="4565639" y="520699"/>
                </a:lnTo>
                <a:lnTo>
                  <a:pt x="4482343" y="609599"/>
                </a:lnTo>
                <a:close/>
              </a:path>
              <a:path w="6568440" h="4634865">
                <a:moveTo>
                  <a:pt x="3710756" y="1130299"/>
                </a:moveTo>
                <a:lnTo>
                  <a:pt x="3688836" y="1130299"/>
                </a:lnTo>
                <a:lnTo>
                  <a:pt x="3690402" y="1117599"/>
                </a:lnTo>
                <a:lnTo>
                  <a:pt x="3695099" y="1117599"/>
                </a:lnTo>
                <a:lnTo>
                  <a:pt x="4001980" y="850899"/>
                </a:lnTo>
                <a:lnTo>
                  <a:pt x="4030652" y="838199"/>
                </a:lnTo>
                <a:lnTo>
                  <a:pt x="4062260" y="825499"/>
                </a:lnTo>
                <a:lnTo>
                  <a:pt x="4096217" y="812799"/>
                </a:lnTo>
                <a:lnTo>
                  <a:pt x="4177340" y="812799"/>
                </a:lnTo>
                <a:lnTo>
                  <a:pt x="4211884" y="800099"/>
                </a:lnTo>
                <a:lnTo>
                  <a:pt x="4244666" y="800099"/>
                </a:lnTo>
                <a:lnTo>
                  <a:pt x="4275100" y="774699"/>
                </a:lnTo>
                <a:lnTo>
                  <a:pt x="4302598" y="761999"/>
                </a:lnTo>
                <a:lnTo>
                  <a:pt x="4423159" y="634999"/>
                </a:lnTo>
                <a:lnTo>
                  <a:pt x="4423159" y="533399"/>
                </a:lnTo>
                <a:lnTo>
                  <a:pt x="4417116" y="495299"/>
                </a:lnTo>
                <a:lnTo>
                  <a:pt x="4400651" y="469899"/>
                </a:lnTo>
                <a:lnTo>
                  <a:pt x="4376260" y="457199"/>
                </a:lnTo>
                <a:lnTo>
                  <a:pt x="4413960" y="457199"/>
                </a:lnTo>
                <a:lnTo>
                  <a:pt x="4435562" y="495299"/>
                </a:lnTo>
                <a:lnTo>
                  <a:pt x="4443513" y="533399"/>
                </a:lnTo>
                <a:lnTo>
                  <a:pt x="4443513" y="609599"/>
                </a:lnTo>
                <a:lnTo>
                  <a:pt x="4482343" y="609599"/>
                </a:lnTo>
                <a:lnTo>
                  <a:pt x="4446644" y="647699"/>
                </a:lnTo>
                <a:lnTo>
                  <a:pt x="4446644" y="673099"/>
                </a:lnTo>
                <a:lnTo>
                  <a:pt x="4423159" y="673099"/>
                </a:lnTo>
                <a:lnTo>
                  <a:pt x="4318255" y="774699"/>
                </a:lnTo>
                <a:lnTo>
                  <a:pt x="4287871" y="800099"/>
                </a:lnTo>
                <a:lnTo>
                  <a:pt x="4253669" y="812799"/>
                </a:lnTo>
                <a:lnTo>
                  <a:pt x="4216532" y="825499"/>
                </a:lnTo>
                <a:lnTo>
                  <a:pt x="4131935" y="825499"/>
                </a:lnTo>
                <a:lnTo>
                  <a:pt x="4100645" y="838199"/>
                </a:lnTo>
                <a:lnTo>
                  <a:pt x="4070676" y="838199"/>
                </a:lnTo>
                <a:lnTo>
                  <a:pt x="4042762" y="850899"/>
                </a:lnTo>
                <a:lnTo>
                  <a:pt x="4017637" y="876299"/>
                </a:lnTo>
                <a:lnTo>
                  <a:pt x="3710756" y="1130299"/>
                </a:lnTo>
                <a:close/>
              </a:path>
              <a:path w="6568440" h="4634865">
                <a:moveTo>
                  <a:pt x="4607913" y="558799"/>
                </a:moveTo>
                <a:lnTo>
                  <a:pt x="4595388" y="558799"/>
                </a:lnTo>
                <a:lnTo>
                  <a:pt x="4565639" y="520699"/>
                </a:lnTo>
                <a:lnTo>
                  <a:pt x="4621222" y="520699"/>
                </a:lnTo>
                <a:lnTo>
                  <a:pt x="4612611" y="546099"/>
                </a:lnTo>
                <a:lnTo>
                  <a:pt x="4611045" y="546099"/>
                </a:lnTo>
                <a:lnTo>
                  <a:pt x="4607913" y="558799"/>
                </a:lnTo>
                <a:close/>
              </a:path>
              <a:path w="6568440" h="4634865">
                <a:moveTo>
                  <a:pt x="4446644" y="1015999"/>
                </a:moveTo>
                <a:lnTo>
                  <a:pt x="4423159" y="1015999"/>
                </a:lnTo>
                <a:lnTo>
                  <a:pt x="4423159" y="673099"/>
                </a:lnTo>
                <a:lnTo>
                  <a:pt x="4446644" y="673099"/>
                </a:lnTo>
                <a:lnTo>
                  <a:pt x="4446644" y="1015999"/>
                </a:lnTo>
                <a:close/>
              </a:path>
              <a:path w="6568440" h="4634865">
                <a:moveTo>
                  <a:pt x="3706059" y="1142999"/>
                </a:moveTo>
                <a:lnTo>
                  <a:pt x="3699796" y="1142999"/>
                </a:lnTo>
                <a:lnTo>
                  <a:pt x="3696664" y="1130299"/>
                </a:lnTo>
                <a:lnTo>
                  <a:pt x="3709190" y="1130299"/>
                </a:lnTo>
                <a:lnTo>
                  <a:pt x="3706059" y="1142999"/>
                </a:lnTo>
                <a:close/>
              </a:path>
              <a:path w="6568440" h="4634865">
                <a:moveTo>
                  <a:pt x="6184594" y="2133599"/>
                </a:moveTo>
                <a:lnTo>
                  <a:pt x="6146967" y="2120899"/>
                </a:lnTo>
                <a:lnTo>
                  <a:pt x="6116093" y="2095499"/>
                </a:lnTo>
                <a:lnTo>
                  <a:pt x="6095201" y="2070099"/>
                </a:lnTo>
                <a:lnTo>
                  <a:pt x="6087519" y="2031999"/>
                </a:lnTo>
                <a:lnTo>
                  <a:pt x="6087519" y="1485899"/>
                </a:lnTo>
                <a:lnTo>
                  <a:pt x="6095201" y="1447799"/>
                </a:lnTo>
                <a:lnTo>
                  <a:pt x="6116093" y="1422399"/>
                </a:lnTo>
                <a:lnTo>
                  <a:pt x="6146967" y="1396999"/>
                </a:lnTo>
                <a:lnTo>
                  <a:pt x="6222880" y="1396999"/>
                </a:lnTo>
                <a:lnTo>
                  <a:pt x="6253681" y="1422399"/>
                </a:lnTo>
                <a:lnTo>
                  <a:pt x="6155921" y="1422399"/>
                </a:lnTo>
                <a:lnTo>
                  <a:pt x="6132533" y="1435099"/>
                </a:lnTo>
                <a:lnTo>
                  <a:pt x="6116778" y="1460499"/>
                </a:lnTo>
                <a:lnTo>
                  <a:pt x="6111005" y="1485899"/>
                </a:lnTo>
                <a:lnTo>
                  <a:pt x="6116778" y="1523999"/>
                </a:lnTo>
                <a:lnTo>
                  <a:pt x="6132533" y="1549399"/>
                </a:lnTo>
                <a:lnTo>
                  <a:pt x="6111005" y="1549399"/>
                </a:lnTo>
                <a:lnTo>
                  <a:pt x="6111005" y="2031999"/>
                </a:lnTo>
                <a:lnTo>
                  <a:pt x="6116778" y="2057399"/>
                </a:lnTo>
                <a:lnTo>
                  <a:pt x="6132533" y="2082799"/>
                </a:lnTo>
                <a:lnTo>
                  <a:pt x="6155921" y="2095499"/>
                </a:lnTo>
                <a:lnTo>
                  <a:pt x="6184594" y="2108199"/>
                </a:lnTo>
                <a:lnTo>
                  <a:pt x="6237657" y="2108199"/>
                </a:lnTo>
                <a:lnTo>
                  <a:pt x="6222220" y="2120899"/>
                </a:lnTo>
                <a:lnTo>
                  <a:pt x="6184594" y="2133599"/>
                </a:lnTo>
                <a:close/>
              </a:path>
              <a:path w="6568440" h="4634865">
                <a:moveTo>
                  <a:pt x="6243602" y="1562099"/>
                </a:moveTo>
                <a:lnTo>
                  <a:pt x="6213266" y="1562099"/>
                </a:lnTo>
                <a:lnTo>
                  <a:pt x="6236654" y="1549399"/>
                </a:lnTo>
                <a:lnTo>
                  <a:pt x="6252409" y="1523999"/>
                </a:lnTo>
                <a:lnTo>
                  <a:pt x="6258182" y="1485899"/>
                </a:lnTo>
                <a:lnTo>
                  <a:pt x="6252409" y="1460499"/>
                </a:lnTo>
                <a:lnTo>
                  <a:pt x="6236654" y="1435099"/>
                </a:lnTo>
                <a:lnTo>
                  <a:pt x="6213266" y="1422399"/>
                </a:lnTo>
                <a:lnTo>
                  <a:pt x="6253681" y="1422399"/>
                </a:lnTo>
                <a:lnTo>
                  <a:pt x="6274207" y="1447799"/>
                </a:lnTo>
                <a:lnTo>
                  <a:pt x="6281668" y="1485899"/>
                </a:lnTo>
                <a:lnTo>
                  <a:pt x="6281668" y="1549399"/>
                </a:lnTo>
                <a:lnTo>
                  <a:pt x="6258182" y="1549399"/>
                </a:lnTo>
                <a:lnTo>
                  <a:pt x="6243602" y="1562099"/>
                </a:lnTo>
                <a:close/>
              </a:path>
              <a:path w="6568440" h="4634865">
                <a:moveTo>
                  <a:pt x="6206220" y="1587499"/>
                </a:moveTo>
                <a:lnTo>
                  <a:pt x="6162967" y="1587499"/>
                </a:lnTo>
                <a:lnTo>
                  <a:pt x="6143102" y="1574799"/>
                </a:lnTo>
                <a:lnTo>
                  <a:pt x="6125585" y="1562099"/>
                </a:lnTo>
                <a:lnTo>
                  <a:pt x="6111005" y="1549399"/>
                </a:lnTo>
                <a:lnTo>
                  <a:pt x="6132533" y="1549399"/>
                </a:lnTo>
                <a:lnTo>
                  <a:pt x="6155921" y="1562099"/>
                </a:lnTo>
                <a:lnTo>
                  <a:pt x="6243602" y="1562099"/>
                </a:lnTo>
                <a:lnTo>
                  <a:pt x="6226085" y="1574799"/>
                </a:lnTo>
                <a:lnTo>
                  <a:pt x="6206220" y="1587499"/>
                </a:lnTo>
                <a:close/>
              </a:path>
              <a:path w="6568440" h="4634865">
                <a:moveTo>
                  <a:pt x="6237657" y="2108199"/>
                </a:moveTo>
                <a:lnTo>
                  <a:pt x="6184594" y="2108199"/>
                </a:lnTo>
                <a:lnTo>
                  <a:pt x="6213266" y="2095499"/>
                </a:lnTo>
                <a:lnTo>
                  <a:pt x="6236654" y="2082799"/>
                </a:lnTo>
                <a:lnTo>
                  <a:pt x="6252409" y="2057399"/>
                </a:lnTo>
                <a:lnTo>
                  <a:pt x="6258182" y="2031999"/>
                </a:lnTo>
                <a:lnTo>
                  <a:pt x="6258182" y="1549399"/>
                </a:lnTo>
                <a:lnTo>
                  <a:pt x="6281668" y="1549399"/>
                </a:lnTo>
                <a:lnTo>
                  <a:pt x="6281668" y="2031999"/>
                </a:lnTo>
                <a:lnTo>
                  <a:pt x="6273986" y="2070099"/>
                </a:lnTo>
                <a:lnTo>
                  <a:pt x="6253094" y="2095499"/>
                </a:lnTo>
                <a:lnTo>
                  <a:pt x="6237657" y="2108199"/>
                </a:lnTo>
                <a:close/>
              </a:path>
              <a:path w="6568440" h="4634865">
                <a:moveTo>
                  <a:pt x="4435684" y="2019299"/>
                </a:moveTo>
                <a:lnTo>
                  <a:pt x="3529132" y="2019299"/>
                </a:lnTo>
                <a:lnTo>
                  <a:pt x="3491506" y="2006599"/>
                </a:lnTo>
                <a:lnTo>
                  <a:pt x="3460632" y="1993899"/>
                </a:lnTo>
                <a:lnTo>
                  <a:pt x="3439740" y="1955799"/>
                </a:lnTo>
                <a:lnTo>
                  <a:pt x="3432058" y="1917699"/>
                </a:lnTo>
                <a:lnTo>
                  <a:pt x="3439740" y="1879599"/>
                </a:lnTo>
                <a:lnTo>
                  <a:pt x="3460632" y="1854199"/>
                </a:lnTo>
                <a:lnTo>
                  <a:pt x="3491506" y="1828799"/>
                </a:lnTo>
                <a:lnTo>
                  <a:pt x="3529132" y="1816099"/>
                </a:lnTo>
                <a:lnTo>
                  <a:pt x="4435684" y="1816099"/>
                </a:lnTo>
                <a:lnTo>
                  <a:pt x="4473310" y="1828799"/>
                </a:lnTo>
                <a:lnTo>
                  <a:pt x="4488748" y="1841499"/>
                </a:lnTo>
                <a:lnTo>
                  <a:pt x="3529132" y="1841499"/>
                </a:lnTo>
                <a:lnTo>
                  <a:pt x="3500460" y="1854199"/>
                </a:lnTo>
                <a:lnTo>
                  <a:pt x="3477072" y="1866899"/>
                </a:lnTo>
                <a:lnTo>
                  <a:pt x="3461317" y="1892299"/>
                </a:lnTo>
                <a:lnTo>
                  <a:pt x="3455544" y="1917699"/>
                </a:lnTo>
                <a:lnTo>
                  <a:pt x="3461317" y="1943099"/>
                </a:lnTo>
                <a:lnTo>
                  <a:pt x="3477072" y="1968499"/>
                </a:lnTo>
                <a:lnTo>
                  <a:pt x="3500460" y="1981199"/>
                </a:lnTo>
                <a:lnTo>
                  <a:pt x="3529132" y="1993899"/>
                </a:lnTo>
                <a:lnTo>
                  <a:pt x="4504185" y="1993899"/>
                </a:lnTo>
                <a:lnTo>
                  <a:pt x="4473310" y="2006599"/>
                </a:lnTo>
                <a:lnTo>
                  <a:pt x="4435684" y="2019299"/>
                </a:lnTo>
                <a:close/>
              </a:path>
              <a:path w="6568440" h="4634865">
                <a:moveTo>
                  <a:pt x="3591761" y="1993899"/>
                </a:moveTo>
                <a:lnTo>
                  <a:pt x="3529132" y="1993899"/>
                </a:lnTo>
                <a:lnTo>
                  <a:pt x="3557805" y="1981199"/>
                </a:lnTo>
                <a:lnTo>
                  <a:pt x="3581193" y="1968499"/>
                </a:lnTo>
                <a:lnTo>
                  <a:pt x="3596948" y="1943099"/>
                </a:lnTo>
                <a:lnTo>
                  <a:pt x="3602721" y="1917699"/>
                </a:lnTo>
                <a:lnTo>
                  <a:pt x="3596948" y="1892299"/>
                </a:lnTo>
                <a:lnTo>
                  <a:pt x="3581193" y="1866899"/>
                </a:lnTo>
                <a:lnTo>
                  <a:pt x="3557805" y="1854199"/>
                </a:lnTo>
                <a:lnTo>
                  <a:pt x="3529132" y="1841499"/>
                </a:lnTo>
                <a:lnTo>
                  <a:pt x="3591761" y="1841499"/>
                </a:lnTo>
                <a:lnTo>
                  <a:pt x="3606391" y="1854199"/>
                </a:lnTo>
                <a:lnTo>
                  <a:pt x="3617204" y="1879599"/>
                </a:lnTo>
                <a:lnTo>
                  <a:pt x="3623907" y="1892299"/>
                </a:lnTo>
                <a:lnTo>
                  <a:pt x="3626207" y="1917699"/>
                </a:lnTo>
                <a:lnTo>
                  <a:pt x="3623687" y="1943099"/>
                </a:lnTo>
                <a:lnTo>
                  <a:pt x="3616617" y="1955799"/>
                </a:lnTo>
                <a:lnTo>
                  <a:pt x="3605730" y="1981199"/>
                </a:lnTo>
                <a:lnTo>
                  <a:pt x="3591761" y="1993899"/>
                </a:lnTo>
                <a:close/>
              </a:path>
              <a:path w="6568440" h="4634865">
                <a:moveTo>
                  <a:pt x="4504185" y="1993899"/>
                </a:moveTo>
                <a:lnTo>
                  <a:pt x="4435684" y="1993899"/>
                </a:lnTo>
                <a:lnTo>
                  <a:pt x="4464357" y="1981199"/>
                </a:lnTo>
                <a:lnTo>
                  <a:pt x="4487744" y="1968499"/>
                </a:lnTo>
                <a:lnTo>
                  <a:pt x="4503500" y="1943099"/>
                </a:lnTo>
                <a:lnTo>
                  <a:pt x="4509273" y="1917699"/>
                </a:lnTo>
                <a:lnTo>
                  <a:pt x="4503500" y="1892299"/>
                </a:lnTo>
                <a:lnTo>
                  <a:pt x="4487744" y="1866899"/>
                </a:lnTo>
                <a:lnTo>
                  <a:pt x="4464357" y="1854199"/>
                </a:lnTo>
                <a:lnTo>
                  <a:pt x="4435684" y="1841499"/>
                </a:lnTo>
                <a:lnTo>
                  <a:pt x="4488748" y="1841499"/>
                </a:lnTo>
                <a:lnTo>
                  <a:pt x="4504185" y="1854199"/>
                </a:lnTo>
                <a:lnTo>
                  <a:pt x="4525077" y="1879599"/>
                </a:lnTo>
                <a:lnTo>
                  <a:pt x="4532759" y="1917699"/>
                </a:lnTo>
                <a:lnTo>
                  <a:pt x="4525077" y="1955799"/>
                </a:lnTo>
                <a:lnTo>
                  <a:pt x="4504185" y="1993899"/>
                </a:lnTo>
                <a:close/>
              </a:path>
              <a:path w="6568440" h="4634865">
                <a:moveTo>
                  <a:pt x="5152784" y="2285999"/>
                </a:moveTo>
                <a:lnTo>
                  <a:pt x="5127733" y="2285999"/>
                </a:lnTo>
                <a:lnTo>
                  <a:pt x="5171573" y="2222499"/>
                </a:lnTo>
                <a:lnTo>
                  <a:pt x="5204089" y="2184399"/>
                </a:lnTo>
                <a:lnTo>
                  <a:pt x="5243229" y="2133599"/>
                </a:lnTo>
                <a:lnTo>
                  <a:pt x="5285928" y="2082799"/>
                </a:lnTo>
                <a:lnTo>
                  <a:pt x="5329123" y="2031999"/>
                </a:lnTo>
                <a:lnTo>
                  <a:pt x="5369749" y="1981199"/>
                </a:lnTo>
                <a:lnTo>
                  <a:pt x="5404743" y="1943099"/>
                </a:lnTo>
                <a:lnTo>
                  <a:pt x="5431039" y="1917699"/>
                </a:lnTo>
                <a:lnTo>
                  <a:pt x="5445574" y="1904999"/>
                </a:lnTo>
                <a:lnTo>
                  <a:pt x="5457292" y="1892299"/>
                </a:lnTo>
                <a:lnTo>
                  <a:pt x="5468864" y="1892299"/>
                </a:lnTo>
                <a:lnTo>
                  <a:pt x="5480142" y="1904999"/>
                </a:lnTo>
                <a:lnTo>
                  <a:pt x="5490980" y="1904999"/>
                </a:lnTo>
                <a:lnTo>
                  <a:pt x="5502943" y="1917699"/>
                </a:lnTo>
                <a:lnTo>
                  <a:pt x="5454968" y="1917699"/>
                </a:lnTo>
                <a:lnTo>
                  <a:pt x="5442956" y="1930399"/>
                </a:lnTo>
                <a:lnTo>
                  <a:pt x="5420229" y="1955799"/>
                </a:lnTo>
                <a:lnTo>
                  <a:pt x="5389134" y="1993899"/>
                </a:lnTo>
                <a:lnTo>
                  <a:pt x="5352022" y="2031999"/>
                </a:lnTo>
                <a:lnTo>
                  <a:pt x="5311240" y="2082799"/>
                </a:lnTo>
                <a:lnTo>
                  <a:pt x="5269137" y="2133599"/>
                </a:lnTo>
                <a:lnTo>
                  <a:pt x="5228061" y="2184399"/>
                </a:lnTo>
                <a:lnTo>
                  <a:pt x="5152784" y="2285999"/>
                </a:lnTo>
                <a:close/>
              </a:path>
              <a:path w="6568440" h="4634865">
                <a:moveTo>
                  <a:pt x="5289002" y="2298699"/>
                </a:moveTo>
                <a:lnTo>
                  <a:pt x="5267082" y="2298699"/>
                </a:lnTo>
                <a:lnTo>
                  <a:pt x="5267082" y="2285999"/>
                </a:lnTo>
                <a:lnTo>
                  <a:pt x="5270213" y="2285999"/>
                </a:lnTo>
                <a:lnTo>
                  <a:pt x="5397036" y="2108199"/>
                </a:lnTo>
                <a:lnTo>
                  <a:pt x="5440901" y="2044699"/>
                </a:lnTo>
                <a:lnTo>
                  <a:pt x="5467298" y="1993899"/>
                </a:lnTo>
                <a:lnTo>
                  <a:pt x="5480484" y="1981199"/>
                </a:lnTo>
                <a:lnTo>
                  <a:pt x="5484717" y="1968499"/>
                </a:lnTo>
                <a:lnTo>
                  <a:pt x="5486967" y="1955799"/>
                </a:lnTo>
                <a:lnTo>
                  <a:pt x="5485108" y="1943099"/>
                </a:lnTo>
                <a:lnTo>
                  <a:pt x="5480313" y="1930399"/>
                </a:lnTo>
                <a:lnTo>
                  <a:pt x="5473757" y="1917699"/>
                </a:lnTo>
                <a:lnTo>
                  <a:pt x="5502943" y="1917699"/>
                </a:lnTo>
                <a:lnTo>
                  <a:pt x="5510355" y="1943099"/>
                </a:lnTo>
                <a:lnTo>
                  <a:pt x="5512777" y="1955799"/>
                </a:lnTo>
                <a:lnTo>
                  <a:pt x="5509768" y="1981199"/>
                </a:lnTo>
                <a:lnTo>
                  <a:pt x="5505218" y="1981199"/>
                </a:lnTo>
                <a:lnTo>
                  <a:pt x="5493328" y="2006599"/>
                </a:lnTo>
                <a:lnTo>
                  <a:pt x="5469696" y="2044699"/>
                </a:lnTo>
                <a:lnTo>
                  <a:pt x="5429916" y="2108199"/>
                </a:lnTo>
                <a:lnTo>
                  <a:pt x="5443005" y="2108199"/>
                </a:lnTo>
                <a:lnTo>
                  <a:pt x="5455947" y="2120899"/>
                </a:lnTo>
                <a:lnTo>
                  <a:pt x="5412694" y="2120899"/>
                </a:lnTo>
                <a:lnTo>
                  <a:pt x="5289002" y="2298699"/>
                </a:lnTo>
                <a:close/>
              </a:path>
              <a:path w="6568440" h="4634865">
                <a:moveTo>
                  <a:pt x="5371985" y="2349499"/>
                </a:moveTo>
                <a:lnTo>
                  <a:pt x="5351630" y="2349499"/>
                </a:lnTo>
                <a:lnTo>
                  <a:pt x="5350065" y="2336799"/>
                </a:lnTo>
                <a:lnTo>
                  <a:pt x="5353196" y="2336799"/>
                </a:lnTo>
                <a:lnTo>
                  <a:pt x="5451837" y="2184399"/>
                </a:lnTo>
                <a:lnTo>
                  <a:pt x="5459665" y="2171699"/>
                </a:lnTo>
                <a:lnTo>
                  <a:pt x="5461231" y="2171699"/>
                </a:lnTo>
                <a:lnTo>
                  <a:pt x="5462797" y="2158999"/>
                </a:lnTo>
                <a:lnTo>
                  <a:pt x="5461231" y="2146299"/>
                </a:lnTo>
                <a:lnTo>
                  <a:pt x="5456534" y="2146299"/>
                </a:lnTo>
                <a:lnTo>
                  <a:pt x="5447482" y="2133599"/>
                </a:lnTo>
                <a:lnTo>
                  <a:pt x="5435788" y="2133599"/>
                </a:lnTo>
                <a:lnTo>
                  <a:pt x="5423507" y="2120899"/>
                </a:lnTo>
                <a:lnTo>
                  <a:pt x="5468008" y="2120899"/>
                </a:lnTo>
                <a:lnTo>
                  <a:pt x="5478454" y="2133599"/>
                </a:lnTo>
                <a:lnTo>
                  <a:pt x="5484301" y="2146299"/>
                </a:lnTo>
                <a:lnTo>
                  <a:pt x="5487652" y="2158999"/>
                </a:lnTo>
                <a:lnTo>
                  <a:pt x="5488362" y="2158999"/>
                </a:lnTo>
                <a:lnTo>
                  <a:pt x="5486282" y="2171699"/>
                </a:lnTo>
                <a:lnTo>
                  <a:pt x="5498221" y="2184399"/>
                </a:lnTo>
                <a:lnTo>
                  <a:pt x="5521511" y="2184399"/>
                </a:lnTo>
                <a:lnTo>
                  <a:pt x="5531688" y="2197099"/>
                </a:lnTo>
                <a:lnTo>
                  <a:pt x="5469059" y="2197099"/>
                </a:lnTo>
                <a:lnTo>
                  <a:pt x="5371985" y="2349499"/>
                </a:lnTo>
                <a:close/>
              </a:path>
              <a:path w="6568440" h="4634865">
                <a:moveTo>
                  <a:pt x="5003089" y="2400299"/>
                </a:moveTo>
                <a:lnTo>
                  <a:pt x="4982121" y="2400299"/>
                </a:lnTo>
                <a:lnTo>
                  <a:pt x="4989020" y="2349499"/>
                </a:lnTo>
                <a:lnTo>
                  <a:pt x="4995038" y="2311399"/>
                </a:lnTo>
                <a:lnTo>
                  <a:pt x="4999295" y="2273299"/>
                </a:lnTo>
                <a:lnTo>
                  <a:pt x="5003600" y="2222499"/>
                </a:lnTo>
                <a:lnTo>
                  <a:pt x="5027771" y="2184399"/>
                </a:lnTo>
                <a:lnTo>
                  <a:pt x="5046315" y="2171699"/>
                </a:lnTo>
                <a:lnTo>
                  <a:pt x="5072541" y="2171699"/>
                </a:lnTo>
                <a:lnTo>
                  <a:pt x="5089911" y="2197099"/>
                </a:lnTo>
                <a:lnTo>
                  <a:pt x="5040908" y="2197099"/>
                </a:lnTo>
                <a:lnTo>
                  <a:pt x="5032419" y="2209799"/>
                </a:lnTo>
                <a:lnTo>
                  <a:pt x="5026572" y="2222499"/>
                </a:lnTo>
                <a:lnTo>
                  <a:pt x="5024395" y="2247899"/>
                </a:lnTo>
                <a:lnTo>
                  <a:pt x="5021226" y="2285999"/>
                </a:lnTo>
                <a:lnTo>
                  <a:pt x="5013322" y="2349499"/>
                </a:lnTo>
                <a:lnTo>
                  <a:pt x="5003089" y="2400299"/>
                </a:lnTo>
                <a:close/>
              </a:path>
              <a:path w="6568440" h="4634865">
                <a:moveTo>
                  <a:pt x="5133995" y="2311399"/>
                </a:moveTo>
                <a:lnTo>
                  <a:pt x="5113641" y="2311399"/>
                </a:lnTo>
                <a:lnTo>
                  <a:pt x="5105470" y="2285999"/>
                </a:lnTo>
                <a:lnTo>
                  <a:pt x="5097592" y="2273299"/>
                </a:lnTo>
                <a:lnTo>
                  <a:pt x="5090302" y="2247899"/>
                </a:lnTo>
                <a:lnTo>
                  <a:pt x="5083892" y="2235199"/>
                </a:lnTo>
                <a:lnTo>
                  <a:pt x="5077214" y="2209799"/>
                </a:lnTo>
                <a:lnTo>
                  <a:pt x="5069214" y="2197099"/>
                </a:lnTo>
                <a:lnTo>
                  <a:pt x="5089911" y="2197099"/>
                </a:lnTo>
                <a:lnTo>
                  <a:pt x="5105812" y="2222499"/>
                </a:lnTo>
                <a:lnTo>
                  <a:pt x="5111439" y="2235199"/>
                </a:lnTo>
                <a:lnTo>
                  <a:pt x="5122106" y="2260599"/>
                </a:lnTo>
                <a:lnTo>
                  <a:pt x="5127733" y="2285999"/>
                </a:lnTo>
                <a:lnTo>
                  <a:pt x="5152784" y="2285999"/>
                </a:lnTo>
                <a:lnTo>
                  <a:pt x="5133995" y="2311399"/>
                </a:lnTo>
                <a:close/>
              </a:path>
              <a:path w="6568440" h="4634865">
                <a:moveTo>
                  <a:pt x="5469059" y="2387599"/>
                </a:moveTo>
                <a:lnTo>
                  <a:pt x="5448705" y="2387599"/>
                </a:lnTo>
                <a:lnTo>
                  <a:pt x="5447139" y="2374899"/>
                </a:lnTo>
                <a:lnTo>
                  <a:pt x="5450271" y="2374899"/>
                </a:lnTo>
                <a:lnTo>
                  <a:pt x="5523860" y="2260599"/>
                </a:lnTo>
                <a:lnTo>
                  <a:pt x="5527431" y="2247899"/>
                </a:lnTo>
                <a:lnTo>
                  <a:pt x="5526600" y="2235199"/>
                </a:lnTo>
                <a:lnTo>
                  <a:pt x="5521658" y="2222499"/>
                </a:lnTo>
                <a:lnTo>
                  <a:pt x="5512900" y="2209799"/>
                </a:lnTo>
                <a:lnTo>
                  <a:pt x="5502747" y="2197099"/>
                </a:lnTo>
                <a:lnTo>
                  <a:pt x="5531688" y="2197099"/>
                </a:lnTo>
                <a:lnTo>
                  <a:pt x="5543676" y="2209799"/>
                </a:lnTo>
                <a:lnTo>
                  <a:pt x="5551260" y="2222499"/>
                </a:lnTo>
                <a:lnTo>
                  <a:pt x="5554147" y="2247899"/>
                </a:lnTo>
                <a:lnTo>
                  <a:pt x="5552043" y="2260599"/>
                </a:lnTo>
                <a:lnTo>
                  <a:pt x="5559553" y="2260599"/>
                </a:lnTo>
                <a:lnTo>
                  <a:pt x="5567504" y="2273299"/>
                </a:lnTo>
                <a:lnTo>
                  <a:pt x="5575161" y="2285999"/>
                </a:lnTo>
                <a:lnTo>
                  <a:pt x="5537951" y="2285999"/>
                </a:lnTo>
                <a:lnTo>
                  <a:pt x="5469059" y="2387599"/>
                </a:lnTo>
                <a:close/>
              </a:path>
              <a:path w="6568440" h="4634865">
                <a:moveTo>
                  <a:pt x="5335973" y="2705099"/>
                </a:moveTo>
                <a:lnTo>
                  <a:pt x="5315619" y="2692399"/>
                </a:lnTo>
                <a:lnTo>
                  <a:pt x="5444008" y="2514599"/>
                </a:lnTo>
                <a:lnTo>
                  <a:pt x="5447139" y="2514599"/>
                </a:lnTo>
                <a:lnTo>
                  <a:pt x="5483200" y="2463799"/>
                </a:lnTo>
                <a:lnTo>
                  <a:pt x="5511334" y="2425699"/>
                </a:lnTo>
                <a:lnTo>
                  <a:pt x="5531248" y="2387599"/>
                </a:lnTo>
                <a:lnTo>
                  <a:pt x="5542648" y="2374899"/>
                </a:lnTo>
                <a:lnTo>
                  <a:pt x="5552556" y="2349499"/>
                </a:lnTo>
                <a:lnTo>
                  <a:pt x="5558501" y="2336799"/>
                </a:lnTo>
                <a:lnTo>
                  <a:pt x="5560042" y="2311399"/>
                </a:lnTo>
                <a:lnTo>
                  <a:pt x="5556740" y="2298699"/>
                </a:lnTo>
                <a:lnTo>
                  <a:pt x="5552703" y="2298699"/>
                </a:lnTo>
                <a:lnTo>
                  <a:pt x="5547933" y="2285999"/>
                </a:lnTo>
                <a:lnTo>
                  <a:pt x="5575161" y="2285999"/>
                </a:lnTo>
                <a:lnTo>
                  <a:pt x="5581791" y="2298699"/>
                </a:lnTo>
                <a:lnTo>
                  <a:pt x="5586170" y="2311399"/>
                </a:lnTo>
                <a:lnTo>
                  <a:pt x="5585118" y="2336799"/>
                </a:lnTo>
                <a:lnTo>
                  <a:pt x="5578489" y="2362199"/>
                </a:lnTo>
                <a:lnTo>
                  <a:pt x="5566134" y="2387599"/>
                </a:lnTo>
                <a:lnTo>
                  <a:pt x="5564568" y="2387599"/>
                </a:lnTo>
                <a:lnTo>
                  <a:pt x="5563003" y="2400299"/>
                </a:lnTo>
                <a:lnTo>
                  <a:pt x="6517333" y="2400299"/>
                </a:lnTo>
                <a:lnTo>
                  <a:pt x="6485212" y="2412999"/>
                </a:lnTo>
                <a:lnTo>
                  <a:pt x="5545780" y="2412999"/>
                </a:lnTo>
                <a:lnTo>
                  <a:pt x="5531077" y="2438399"/>
                </a:lnTo>
                <a:lnTo>
                  <a:pt x="5512704" y="2463799"/>
                </a:lnTo>
                <a:lnTo>
                  <a:pt x="5490515" y="2489199"/>
                </a:lnTo>
                <a:lnTo>
                  <a:pt x="5464362" y="2527299"/>
                </a:lnTo>
                <a:lnTo>
                  <a:pt x="5461231" y="2527299"/>
                </a:lnTo>
                <a:lnTo>
                  <a:pt x="5335973" y="2705099"/>
                </a:lnTo>
                <a:close/>
              </a:path>
              <a:path w="6568440" h="4634865">
                <a:moveTo>
                  <a:pt x="2470706" y="2315795"/>
                </a:moveTo>
                <a:lnTo>
                  <a:pt x="2462877" y="2314227"/>
                </a:lnTo>
                <a:lnTo>
                  <a:pt x="2455048" y="2314227"/>
                </a:lnTo>
                <a:lnTo>
                  <a:pt x="2445654" y="2312659"/>
                </a:lnTo>
                <a:lnTo>
                  <a:pt x="2412774" y="2119807"/>
                </a:lnTo>
                <a:lnTo>
                  <a:pt x="2411208" y="2113535"/>
                </a:lnTo>
                <a:lnTo>
                  <a:pt x="2415905" y="2107263"/>
                </a:lnTo>
                <a:lnTo>
                  <a:pt x="2465006" y="2092122"/>
                </a:lnTo>
                <a:lnTo>
                  <a:pt x="2507972" y="2070974"/>
                </a:lnTo>
                <a:lnTo>
                  <a:pt x="2549572" y="2043386"/>
                </a:lnTo>
                <a:lnTo>
                  <a:pt x="2588311" y="2010494"/>
                </a:lnTo>
                <a:lnTo>
                  <a:pt x="2622694" y="1973434"/>
                </a:lnTo>
                <a:lnTo>
                  <a:pt x="2651227" y="1933342"/>
                </a:lnTo>
                <a:lnTo>
                  <a:pt x="2672415" y="1891353"/>
                </a:lnTo>
                <a:lnTo>
                  <a:pt x="2684763" y="1848602"/>
                </a:lnTo>
                <a:lnTo>
                  <a:pt x="2686775" y="1806226"/>
                </a:lnTo>
                <a:lnTo>
                  <a:pt x="2683069" y="1776047"/>
                </a:lnTo>
                <a:lnTo>
                  <a:pt x="2668170" y="1696506"/>
                </a:lnTo>
                <a:lnTo>
                  <a:pt x="2657418" y="1649239"/>
                </a:lnTo>
                <a:lnTo>
                  <a:pt x="2644757" y="1598371"/>
                </a:lnTo>
                <a:lnTo>
                  <a:pt x="2630409" y="1544949"/>
                </a:lnTo>
                <a:lnTo>
                  <a:pt x="2614593" y="1490020"/>
                </a:lnTo>
                <a:lnTo>
                  <a:pt x="2597529" y="1434632"/>
                </a:lnTo>
                <a:lnTo>
                  <a:pt x="2601957" y="1427577"/>
                </a:lnTo>
                <a:lnTo>
                  <a:pt x="2605945" y="1420521"/>
                </a:lnTo>
                <a:lnTo>
                  <a:pt x="2609639" y="1413466"/>
                </a:lnTo>
                <a:lnTo>
                  <a:pt x="2613186" y="1406410"/>
                </a:lnTo>
                <a:lnTo>
                  <a:pt x="2630905" y="1465323"/>
                </a:lnTo>
                <a:lnTo>
                  <a:pt x="2647485" y="1523758"/>
                </a:lnTo>
                <a:lnTo>
                  <a:pt x="2662672" y="1580650"/>
                </a:lnTo>
                <a:lnTo>
                  <a:pt x="2676206" y="1634932"/>
                </a:lnTo>
                <a:lnTo>
                  <a:pt x="2687833" y="1685540"/>
                </a:lnTo>
                <a:lnTo>
                  <a:pt x="2697295" y="1731407"/>
                </a:lnTo>
                <a:lnTo>
                  <a:pt x="2704334" y="1771468"/>
                </a:lnTo>
                <a:lnTo>
                  <a:pt x="2708695" y="1804658"/>
                </a:lnTo>
                <a:lnTo>
                  <a:pt x="2708086" y="1839991"/>
                </a:lnTo>
                <a:lnTo>
                  <a:pt x="2700065" y="1877534"/>
                </a:lnTo>
                <a:lnTo>
                  <a:pt x="2685205" y="1916206"/>
                </a:lnTo>
                <a:lnTo>
                  <a:pt x="2664078" y="1954926"/>
                </a:lnTo>
                <a:lnTo>
                  <a:pt x="2637259" y="1992610"/>
                </a:lnTo>
                <a:lnTo>
                  <a:pt x="2605320" y="2028178"/>
                </a:lnTo>
                <a:lnTo>
                  <a:pt x="2568834" y="2060548"/>
                </a:lnTo>
                <a:lnTo>
                  <a:pt x="2528374" y="2088637"/>
                </a:lnTo>
                <a:lnTo>
                  <a:pt x="2484514" y="2111363"/>
                </a:lnTo>
                <a:lnTo>
                  <a:pt x="2437826" y="2127646"/>
                </a:lnTo>
                <a:lnTo>
                  <a:pt x="2470706" y="2315795"/>
                </a:lnTo>
                <a:close/>
              </a:path>
              <a:path w="6568440" h="4634865">
                <a:moveTo>
                  <a:pt x="1885126" y="2221720"/>
                </a:moveTo>
                <a:lnTo>
                  <a:pt x="1875732" y="2220153"/>
                </a:lnTo>
                <a:lnTo>
                  <a:pt x="1867903" y="2218585"/>
                </a:lnTo>
                <a:lnTo>
                  <a:pt x="1861641" y="2217017"/>
                </a:lnTo>
                <a:lnTo>
                  <a:pt x="1868270" y="2192249"/>
                </a:lnTo>
                <a:lnTo>
                  <a:pt x="1873579" y="2168216"/>
                </a:lnTo>
                <a:lnTo>
                  <a:pt x="1876757" y="2146755"/>
                </a:lnTo>
                <a:lnTo>
                  <a:pt x="1876833" y="2146241"/>
                </a:lnTo>
                <a:lnTo>
                  <a:pt x="1877298" y="2127646"/>
                </a:lnTo>
                <a:lnTo>
                  <a:pt x="1875585" y="2104495"/>
                </a:lnTo>
                <a:lnTo>
                  <a:pt x="1872992" y="2080021"/>
                </a:lnTo>
                <a:lnTo>
                  <a:pt x="1869812" y="2054665"/>
                </a:lnTo>
                <a:lnTo>
                  <a:pt x="1866338" y="2028868"/>
                </a:lnTo>
                <a:lnTo>
                  <a:pt x="1872234" y="2030975"/>
                </a:lnTo>
                <a:lnTo>
                  <a:pt x="1878276" y="2032788"/>
                </a:lnTo>
                <a:lnTo>
                  <a:pt x="1884613" y="2034601"/>
                </a:lnTo>
                <a:lnTo>
                  <a:pt x="1891389" y="2036708"/>
                </a:lnTo>
                <a:lnTo>
                  <a:pt x="1894619" y="2059932"/>
                </a:lnTo>
                <a:lnTo>
                  <a:pt x="1897261" y="2082569"/>
                </a:lnTo>
                <a:lnTo>
                  <a:pt x="1899304" y="2104495"/>
                </a:lnTo>
                <a:lnTo>
                  <a:pt x="1900784" y="2126078"/>
                </a:lnTo>
                <a:lnTo>
                  <a:pt x="1900330" y="2146241"/>
                </a:lnTo>
                <a:lnTo>
                  <a:pt x="1900319" y="2146755"/>
                </a:lnTo>
                <a:lnTo>
                  <a:pt x="1897065" y="2170372"/>
                </a:lnTo>
                <a:lnTo>
                  <a:pt x="1891756" y="2195752"/>
                </a:lnTo>
                <a:lnTo>
                  <a:pt x="1885126" y="2221720"/>
                </a:lnTo>
                <a:close/>
              </a:path>
              <a:path w="6568440" h="4634865">
                <a:moveTo>
                  <a:pt x="1121055" y="1326447"/>
                </a:moveTo>
                <a:lnTo>
                  <a:pt x="134651" y="1326447"/>
                </a:lnTo>
                <a:lnTo>
                  <a:pt x="92390" y="1319498"/>
                </a:lnTo>
                <a:lnTo>
                  <a:pt x="55464" y="1300206"/>
                </a:lnTo>
                <a:lnTo>
                  <a:pt x="26203" y="1270905"/>
                </a:lnTo>
                <a:lnTo>
                  <a:pt x="6939" y="1233928"/>
                </a:lnTo>
                <a:lnTo>
                  <a:pt x="0" y="1191607"/>
                </a:lnTo>
                <a:lnTo>
                  <a:pt x="0" y="203827"/>
                </a:lnTo>
                <a:lnTo>
                  <a:pt x="6939" y="161506"/>
                </a:lnTo>
                <a:lnTo>
                  <a:pt x="26203" y="124529"/>
                </a:lnTo>
                <a:lnTo>
                  <a:pt x="55464" y="95228"/>
                </a:lnTo>
                <a:lnTo>
                  <a:pt x="92390" y="75936"/>
                </a:lnTo>
                <a:lnTo>
                  <a:pt x="134651" y="68987"/>
                </a:lnTo>
                <a:lnTo>
                  <a:pt x="1121055" y="68987"/>
                </a:lnTo>
                <a:lnTo>
                  <a:pt x="1163918" y="75786"/>
                </a:lnTo>
                <a:lnTo>
                  <a:pt x="1196496" y="92506"/>
                </a:lnTo>
                <a:lnTo>
                  <a:pt x="134651" y="92506"/>
                </a:lnTo>
                <a:lnTo>
                  <a:pt x="91521" y="101301"/>
                </a:lnTo>
                <a:lnTo>
                  <a:pt x="56170" y="125236"/>
                </a:lnTo>
                <a:lnTo>
                  <a:pt x="32268" y="160636"/>
                </a:lnTo>
                <a:lnTo>
                  <a:pt x="23485" y="203827"/>
                </a:lnTo>
                <a:lnTo>
                  <a:pt x="23485" y="1191607"/>
                </a:lnTo>
                <a:lnTo>
                  <a:pt x="32268" y="1234798"/>
                </a:lnTo>
                <a:lnTo>
                  <a:pt x="56170" y="1270198"/>
                </a:lnTo>
                <a:lnTo>
                  <a:pt x="91521" y="1294133"/>
                </a:lnTo>
                <a:lnTo>
                  <a:pt x="134651" y="1302928"/>
                </a:lnTo>
                <a:lnTo>
                  <a:pt x="1195033" y="1302928"/>
                </a:lnTo>
                <a:lnTo>
                  <a:pt x="1163317" y="1319498"/>
                </a:lnTo>
                <a:lnTo>
                  <a:pt x="1121055" y="1326447"/>
                </a:lnTo>
                <a:close/>
              </a:path>
              <a:path w="6568440" h="4634865">
                <a:moveTo>
                  <a:pt x="1195033" y="1302928"/>
                </a:moveTo>
                <a:lnTo>
                  <a:pt x="1121055" y="1302928"/>
                </a:lnTo>
                <a:lnTo>
                  <a:pt x="1164186" y="1294133"/>
                </a:lnTo>
                <a:lnTo>
                  <a:pt x="1199537" y="1270198"/>
                </a:lnTo>
                <a:lnTo>
                  <a:pt x="1223438" y="1234798"/>
                </a:lnTo>
                <a:lnTo>
                  <a:pt x="1232221" y="1191607"/>
                </a:lnTo>
                <a:lnTo>
                  <a:pt x="1232221" y="203827"/>
                </a:lnTo>
                <a:lnTo>
                  <a:pt x="1223615" y="161506"/>
                </a:lnTo>
                <a:lnTo>
                  <a:pt x="1223493" y="160904"/>
                </a:lnTo>
                <a:lnTo>
                  <a:pt x="1223438" y="160636"/>
                </a:lnTo>
                <a:lnTo>
                  <a:pt x="1199537" y="125236"/>
                </a:lnTo>
                <a:lnTo>
                  <a:pt x="1164186" y="101301"/>
                </a:lnTo>
                <a:lnTo>
                  <a:pt x="1121055" y="92506"/>
                </a:lnTo>
                <a:lnTo>
                  <a:pt x="1196496" y="92506"/>
                </a:lnTo>
                <a:lnTo>
                  <a:pt x="1200919" y="94776"/>
                </a:lnTo>
                <a:lnTo>
                  <a:pt x="1229954" y="123851"/>
                </a:lnTo>
                <a:lnTo>
                  <a:pt x="1248918" y="160904"/>
                </a:lnTo>
                <a:lnTo>
                  <a:pt x="1255707" y="203827"/>
                </a:lnTo>
                <a:lnTo>
                  <a:pt x="1255707" y="1191607"/>
                </a:lnTo>
                <a:lnTo>
                  <a:pt x="1248768" y="1233928"/>
                </a:lnTo>
                <a:lnTo>
                  <a:pt x="1229503" y="1270905"/>
                </a:lnTo>
                <a:lnTo>
                  <a:pt x="1200243" y="1300206"/>
                </a:lnTo>
                <a:lnTo>
                  <a:pt x="1195033" y="1302928"/>
                </a:lnTo>
                <a:close/>
              </a:path>
              <a:path w="6568440" h="4634865">
                <a:moveTo>
                  <a:pt x="771899" y="951718"/>
                </a:moveTo>
                <a:lnTo>
                  <a:pt x="479110" y="951718"/>
                </a:lnTo>
                <a:lnTo>
                  <a:pt x="472847" y="947014"/>
                </a:lnTo>
                <a:lnTo>
                  <a:pt x="472847" y="931335"/>
                </a:lnTo>
                <a:lnTo>
                  <a:pt x="477544" y="926631"/>
                </a:lnTo>
                <a:lnTo>
                  <a:pt x="770334" y="926631"/>
                </a:lnTo>
                <a:lnTo>
                  <a:pt x="776597" y="932903"/>
                </a:lnTo>
                <a:lnTo>
                  <a:pt x="776597" y="945446"/>
                </a:lnTo>
                <a:lnTo>
                  <a:pt x="771899" y="951718"/>
                </a:lnTo>
                <a:close/>
              </a:path>
              <a:path w="6568440" h="4634865">
                <a:moveTo>
                  <a:pt x="529213" y="4634726"/>
                </a:moveTo>
                <a:lnTo>
                  <a:pt x="522950" y="4634726"/>
                </a:lnTo>
                <a:lnTo>
                  <a:pt x="516687" y="4633158"/>
                </a:lnTo>
                <a:lnTo>
                  <a:pt x="511990" y="4626886"/>
                </a:lnTo>
                <a:lnTo>
                  <a:pt x="513556" y="4620615"/>
                </a:lnTo>
                <a:lnTo>
                  <a:pt x="757808" y="3314550"/>
                </a:lnTo>
                <a:lnTo>
                  <a:pt x="759374" y="3308278"/>
                </a:lnTo>
                <a:lnTo>
                  <a:pt x="765637" y="3303575"/>
                </a:lnTo>
                <a:lnTo>
                  <a:pt x="771899" y="3305143"/>
                </a:lnTo>
                <a:lnTo>
                  <a:pt x="776597" y="3306710"/>
                </a:lnTo>
                <a:lnTo>
                  <a:pt x="781294" y="3312982"/>
                </a:lnTo>
                <a:lnTo>
                  <a:pt x="779728" y="3319254"/>
                </a:lnTo>
                <a:lnTo>
                  <a:pt x="535476" y="4625318"/>
                </a:lnTo>
                <a:lnTo>
                  <a:pt x="533910" y="4631590"/>
                </a:lnTo>
                <a:lnTo>
                  <a:pt x="529213" y="4634726"/>
                </a:lnTo>
                <a:close/>
              </a:path>
              <a:path w="6568440" h="4634865">
                <a:moveTo>
                  <a:pt x="4377753" y="3529353"/>
                </a:moveTo>
                <a:lnTo>
                  <a:pt x="4369924" y="3529353"/>
                </a:lnTo>
                <a:lnTo>
                  <a:pt x="4365227" y="3527785"/>
                </a:lnTo>
                <a:lnTo>
                  <a:pt x="4363661" y="3523081"/>
                </a:lnTo>
                <a:lnTo>
                  <a:pt x="4203958" y="3267513"/>
                </a:lnTo>
                <a:lnTo>
                  <a:pt x="4200826" y="3261241"/>
                </a:lnTo>
                <a:lnTo>
                  <a:pt x="4202392" y="3254970"/>
                </a:lnTo>
                <a:lnTo>
                  <a:pt x="4207089" y="3251834"/>
                </a:lnTo>
                <a:lnTo>
                  <a:pt x="4213352" y="3248698"/>
                </a:lnTo>
                <a:lnTo>
                  <a:pt x="4219615" y="3250266"/>
                </a:lnTo>
                <a:lnTo>
                  <a:pt x="4222746" y="3254970"/>
                </a:lnTo>
                <a:lnTo>
                  <a:pt x="4382450" y="3512106"/>
                </a:lnTo>
                <a:lnTo>
                  <a:pt x="4385581" y="3518378"/>
                </a:lnTo>
                <a:lnTo>
                  <a:pt x="4384016" y="3524649"/>
                </a:lnTo>
                <a:lnTo>
                  <a:pt x="4379318" y="3527785"/>
                </a:lnTo>
                <a:lnTo>
                  <a:pt x="4377753" y="35293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4326" y="1523860"/>
            <a:ext cx="8460105" cy="416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58191" y="1667255"/>
            <a:ext cx="10160000" cy="233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allygreatsite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2027" y="1031603"/>
            <a:ext cx="7516783" cy="82037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3465316"/>
            <a:ext cx="5102860" cy="4254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1250"/>
              </a:lnSpc>
            </a:pPr>
            <a:r>
              <a:rPr sz="9000" spc="-500" dirty="0"/>
              <a:t>Ban</a:t>
            </a:r>
            <a:r>
              <a:rPr sz="9000" spc="-500" dirty="0">
                <a:latin typeface="Arial MT"/>
                <a:cs typeface="Arial MT"/>
              </a:rPr>
              <a:t>k </a:t>
            </a:r>
            <a:r>
              <a:rPr sz="9000" spc="-535" dirty="0">
                <a:latin typeface="Arial MT"/>
                <a:cs typeface="Arial MT"/>
              </a:rPr>
              <a:t>C</a:t>
            </a:r>
            <a:r>
              <a:rPr sz="9000" spc="-535" dirty="0"/>
              <a:t>ustomer </a:t>
            </a:r>
            <a:r>
              <a:rPr sz="9000" spc="-545" dirty="0">
                <a:latin typeface="Arial MT"/>
                <a:cs typeface="Arial MT"/>
              </a:rPr>
              <a:t>C</a:t>
            </a:r>
            <a:r>
              <a:rPr sz="9000" spc="-545" dirty="0"/>
              <a:t>hur</a:t>
            </a:r>
            <a:r>
              <a:rPr lang="en-IN" sz="9000" spc="-545" dirty="0"/>
              <a:t>n</a:t>
            </a:r>
            <a:endParaRPr sz="90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69271" y="3138072"/>
            <a:ext cx="1543050" cy="1543050"/>
          </a:xfrm>
          <a:custGeom>
            <a:avLst/>
            <a:gdLst/>
            <a:ahLst/>
            <a:cxnLst/>
            <a:rect l="l" t="t" r="r" b="b"/>
            <a:pathLst>
              <a:path w="1543050" h="1543050">
                <a:moveTo>
                  <a:pt x="771525" y="1543051"/>
                </a:moveTo>
                <a:lnTo>
                  <a:pt x="771525" y="771525"/>
                </a:lnTo>
                <a:lnTo>
                  <a:pt x="0" y="771525"/>
                </a:lnTo>
                <a:lnTo>
                  <a:pt x="1517" y="722723"/>
                </a:lnTo>
                <a:lnTo>
                  <a:pt x="6009" y="674729"/>
                </a:lnTo>
                <a:lnTo>
                  <a:pt x="13386" y="627633"/>
                </a:lnTo>
                <a:lnTo>
                  <a:pt x="23557" y="581526"/>
                </a:lnTo>
                <a:lnTo>
                  <a:pt x="36432" y="536498"/>
                </a:lnTo>
                <a:lnTo>
                  <a:pt x="51921" y="492638"/>
                </a:lnTo>
                <a:lnTo>
                  <a:pt x="69933" y="450038"/>
                </a:lnTo>
                <a:lnTo>
                  <a:pt x="90378" y="408788"/>
                </a:lnTo>
                <a:lnTo>
                  <a:pt x="113166" y="368977"/>
                </a:lnTo>
                <a:lnTo>
                  <a:pt x="138207" y="330697"/>
                </a:lnTo>
                <a:lnTo>
                  <a:pt x="165410" y="294037"/>
                </a:lnTo>
                <a:lnTo>
                  <a:pt x="194684" y="259089"/>
                </a:lnTo>
                <a:lnTo>
                  <a:pt x="225941" y="225941"/>
                </a:lnTo>
                <a:lnTo>
                  <a:pt x="259089" y="194684"/>
                </a:lnTo>
                <a:lnTo>
                  <a:pt x="294037" y="165410"/>
                </a:lnTo>
                <a:lnTo>
                  <a:pt x="330697" y="138207"/>
                </a:lnTo>
                <a:lnTo>
                  <a:pt x="368977" y="113166"/>
                </a:lnTo>
                <a:lnTo>
                  <a:pt x="408788" y="90378"/>
                </a:lnTo>
                <a:lnTo>
                  <a:pt x="450038" y="69933"/>
                </a:lnTo>
                <a:lnTo>
                  <a:pt x="492638" y="51921"/>
                </a:lnTo>
                <a:lnTo>
                  <a:pt x="536498" y="36432"/>
                </a:lnTo>
                <a:lnTo>
                  <a:pt x="581526" y="23557"/>
                </a:lnTo>
                <a:lnTo>
                  <a:pt x="627633" y="13386"/>
                </a:lnTo>
                <a:lnTo>
                  <a:pt x="674729" y="6009"/>
                </a:lnTo>
                <a:lnTo>
                  <a:pt x="722723" y="1517"/>
                </a:lnTo>
                <a:lnTo>
                  <a:pt x="771525" y="0"/>
                </a:lnTo>
                <a:lnTo>
                  <a:pt x="820327" y="1517"/>
                </a:lnTo>
                <a:lnTo>
                  <a:pt x="868321" y="6009"/>
                </a:lnTo>
                <a:lnTo>
                  <a:pt x="915417" y="13386"/>
                </a:lnTo>
                <a:lnTo>
                  <a:pt x="961524" y="23557"/>
                </a:lnTo>
                <a:lnTo>
                  <a:pt x="1006553" y="36432"/>
                </a:lnTo>
                <a:lnTo>
                  <a:pt x="1050412" y="51921"/>
                </a:lnTo>
                <a:lnTo>
                  <a:pt x="1093012" y="69933"/>
                </a:lnTo>
                <a:lnTo>
                  <a:pt x="1134263" y="90378"/>
                </a:lnTo>
                <a:lnTo>
                  <a:pt x="1174073" y="113166"/>
                </a:lnTo>
                <a:lnTo>
                  <a:pt x="1212353" y="138207"/>
                </a:lnTo>
                <a:lnTo>
                  <a:pt x="1249013" y="165410"/>
                </a:lnTo>
                <a:lnTo>
                  <a:pt x="1283962" y="194684"/>
                </a:lnTo>
                <a:lnTo>
                  <a:pt x="1317110" y="225941"/>
                </a:lnTo>
                <a:lnTo>
                  <a:pt x="1348366" y="259089"/>
                </a:lnTo>
                <a:lnTo>
                  <a:pt x="1377641" y="294037"/>
                </a:lnTo>
                <a:lnTo>
                  <a:pt x="1404843" y="330697"/>
                </a:lnTo>
                <a:lnTo>
                  <a:pt x="1429884" y="368977"/>
                </a:lnTo>
                <a:lnTo>
                  <a:pt x="1452672" y="408788"/>
                </a:lnTo>
                <a:lnTo>
                  <a:pt x="1473117" y="450038"/>
                </a:lnTo>
                <a:lnTo>
                  <a:pt x="1491129" y="492638"/>
                </a:lnTo>
                <a:lnTo>
                  <a:pt x="1506618" y="536498"/>
                </a:lnTo>
                <a:lnTo>
                  <a:pt x="1519493" y="581526"/>
                </a:lnTo>
                <a:lnTo>
                  <a:pt x="1529664" y="627633"/>
                </a:lnTo>
                <a:lnTo>
                  <a:pt x="1537041" y="674729"/>
                </a:lnTo>
                <a:lnTo>
                  <a:pt x="1541533" y="722723"/>
                </a:lnTo>
                <a:lnTo>
                  <a:pt x="1543051" y="771525"/>
                </a:lnTo>
                <a:lnTo>
                  <a:pt x="1541533" y="820327"/>
                </a:lnTo>
                <a:lnTo>
                  <a:pt x="1537041" y="868321"/>
                </a:lnTo>
                <a:lnTo>
                  <a:pt x="1529664" y="915417"/>
                </a:lnTo>
                <a:lnTo>
                  <a:pt x="1519493" y="961524"/>
                </a:lnTo>
                <a:lnTo>
                  <a:pt x="1506618" y="1006553"/>
                </a:lnTo>
                <a:lnTo>
                  <a:pt x="1491129" y="1050412"/>
                </a:lnTo>
                <a:lnTo>
                  <a:pt x="1473117" y="1093012"/>
                </a:lnTo>
                <a:lnTo>
                  <a:pt x="1452672" y="1134263"/>
                </a:lnTo>
                <a:lnTo>
                  <a:pt x="1429884" y="1174073"/>
                </a:lnTo>
                <a:lnTo>
                  <a:pt x="1404843" y="1212353"/>
                </a:lnTo>
                <a:lnTo>
                  <a:pt x="1377641" y="1249013"/>
                </a:lnTo>
                <a:lnTo>
                  <a:pt x="1348366" y="1283962"/>
                </a:lnTo>
                <a:lnTo>
                  <a:pt x="1317110" y="1317110"/>
                </a:lnTo>
                <a:lnTo>
                  <a:pt x="1283962" y="1348366"/>
                </a:lnTo>
                <a:lnTo>
                  <a:pt x="1249013" y="1377641"/>
                </a:lnTo>
                <a:lnTo>
                  <a:pt x="1212353" y="1404843"/>
                </a:lnTo>
                <a:lnTo>
                  <a:pt x="1174073" y="1429884"/>
                </a:lnTo>
                <a:lnTo>
                  <a:pt x="1134263" y="1452672"/>
                </a:lnTo>
                <a:lnTo>
                  <a:pt x="1093012" y="1473117"/>
                </a:lnTo>
                <a:lnTo>
                  <a:pt x="1050412" y="1491129"/>
                </a:lnTo>
                <a:lnTo>
                  <a:pt x="1006553" y="1506618"/>
                </a:lnTo>
                <a:lnTo>
                  <a:pt x="961524" y="1519493"/>
                </a:lnTo>
                <a:lnTo>
                  <a:pt x="915417" y="1529664"/>
                </a:lnTo>
                <a:lnTo>
                  <a:pt x="868321" y="1537041"/>
                </a:lnTo>
                <a:lnTo>
                  <a:pt x="820327" y="1541533"/>
                </a:lnTo>
                <a:lnTo>
                  <a:pt x="771525" y="1543051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66214" y="1037967"/>
            <a:ext cx="890269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100" spc="-185" dirty="0">
                <a:latin typeface="Verdana"/>
                <a:cs typeface="Verdana"/>
              </a:rPr>
              <a:t>Borcelle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8700" y="8997315"/>
            <a:ext cx="212852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00" spc="-200" dirty="0">
                <a:latin typeface="Verdana"/>
                <a:cs typeface="Verdana"/>
                <a:hlinkClick r:id="rId3"/>
              </a:rPr>
              <a:t>www.reallygreatsite.com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1050" y="8997315"/>
            <a:ext cx="123825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00" spc="-210" dirty="0">
                <a:latin typeface="Verdana"/>
                <a:cs typeface="Verdana"/>
              </a:rPr>
              <a:t>27</a:t>
            </a:r>
            <a:r>
              <a:rPr sz="1700" spc="-370" dirty="0">
                <a:latin typeface="Verdana"/>
                <a:cs typeface="Verdana"/>
              </a:rPr>
              <a:t> </a:t>
            </a:r>
            <a:r>
              <a:rPr sz="1700" spc="-155" dirty="0">
                <a:latin typeface="Verdana"/>
                <a:cs typeface="Verdana"/>
              </a:rPr>
              <a:t>June,</a:t>
            </a:r>
            <a:r>
              <a:rPr sz="1700" spc="-375" dirty="0">
                <a:latin typeface="Verdana"/>
                <a:cs typeface="Verdana"/>
              </a:rPr>
              <a:t> </a:t>
            </a:r>
            <a:r>
              <a:rPr sz="1700" spc="-150" dirty="0">
                <a:latin typeface="Verdana"/>
                <a:cs typeface="Verdana"/>
              </a:rPr>
              <a:t>2024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7506" y="868057"/>
            <a:ext cx="2174240" cy="678815"/>
          </a:xfrm>
          <a:custGeom>
            <a:avLst/>
            <a:gdLst/>
            <a:ahLst/>
            <a:cxnLst/>
            <a:rect l="l" t="t" r="r" b="b"/>
            <a:pathLst>
              <a:path w="2174240" h="678815">
                <a:moveTo>
                  <a:pt x="2173820" y="0"/>
                </a:moveTo>
                <a:lnTo>
                  <a:pt x="0" y="0"/>
                </a:lnTo>
                <a:lnTo>
                  <a:pt x="0" y="678484"/>
                </a:lnTo>
                <a:lnTo>
                  <a:pt x="2173820" y="678484"/>
                </a:lnTo>
                <a:lnTo>
                  <a:pt x="21738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7986" y="8900096"/>
            <a:ext cx="3111500" cy="598805"/>
          </a:xfrm>
          <a:custGeom>
            <a:avLst/>
            <a:gdLst/>
            <a:ahLst/>
            <a:cxnLst/>
            <a:rect l="l" t="t" r="r" b="b"/>
            <a:pathLst>
              <a:path w="3111500" h="598804">
                <a:moveTo>
                  <a:pt x="3111157" y="0"/>
                </a:moveTo>
                <a:lnTo>
                  <a:pt x="0" y="0"/>
                </a:lnTo>
                <a:lnTo>
                  <a:pt x="0" y="598665"/>
                </a:lnTo>
                <a:lnTo>
                  <a:pt x="3111157" y="598665"/>
                </a:lnTo>
                <a:lnTo>
                  <a:pt x="3111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IN" dirty="0"/>
              <a:t>Name-Rishi Raj Hans &amp; Roshan Mardi</a:t>
            </a:r>
          </a:p>
          <a:p>
            <a:r>
              <a:rPr lang="en-IN" dirty="0" err="1"/>
              <a:t>Enrollment</a:t>
            </a:r>
            <a:r>
              <a:rPr lang="en-IN" dirty="0"/>
              <a:t> no-Aju/232002 </a:t>
            </a:r>
          </a:p>
          <a:p>
            <a:r>
              <a:rPr lang="en-IN"/>
              <a:t>                       Aju/232511</a:t>
            </a:r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5918307" y="8953613"/>
            <a:ext cx="1977389" cy="392430"/>
            <a:chOff x="15918307" y="8953613"/>
            <a:chExt cx="1977389" cy="392430"/>
          </a:xfrm>
        </p:grpSpPr>
        <p:sp>
          <p:nvSpPr>
            <p:cNvPr id="11" name="object 11"/>
            <p:cNvSpPr/>
            <p:nvPr/>
          </p:nvSpPr>
          <p:spPr>
            <a:xfrm>
              <a:off x="15924657" y="8959963"/>
              <a:ext cx="1964689" cy="379730"/>
            </a:xfrm>
            <a:custGeom>
              <a:avLst/>
              <a:gdLst/>
              <a:ahLst/>
              <a:cxnLst/>
              <a:rect l="l" t="t" r="r" b="b"/>
              <a:pathLst>
                <a:path w="1964690" h="379729">
                  <a:moveTo>
                    <a:pt x="1964410" y="0"/>
                  </a:moveTo>
                  <a:lnTo>
                    <a:pt x="0" y="0"/>
                  </a:lnTo>
                  <a:lnTo>
                    <a:pt x="0" y="379158"/>
                  </a:lnTo>
                  <a:lnTo>
                    <a:pt x="1964410" y="379158"/>
                  </a:lnTo>
                  <a:lnTo>
                    <a:pt x="19644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924657" y="8959963"/>
              <a:ext cx="1964689" cy="379730"/>
            </a:xfrm>
            <a:custGeom>
              <a:avLst/>
              <a:gdLst/>
              <a:ahLst/>
              <a:cxnLst/>
              <a:rect l="l" t="t" r="r" b="b"/>
              <a:pathLst>
                <a:path w="1964690" h="379729">
                  <a:moveTo>
                    <a:pt x="0" y="0"/>
                  </a:moveTo>
                  <a:lnTo>
                    <a:pt x="1964410" y="0"/>
                  </a:lnTo>
                  <a:lnTo>
                    <a:pt x="1964410" y="379158"/>
                  </a:lnTo>
                  <a:lnTo>
                    <a:pt x="0" y="379158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009" y="2248777"/>
            <a:ext cx="7431588" cy="69973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6040076" y="1028686"/>
            <a:ext cx="1214755" cy="847725"/>
          </a:xfrm>
          <a:custGeom>
            <a:avLst/>
            <a:gdLst/>
            <a:ahLst/>
            <a:cxnLst/>
            <a:rect l="l" t="t" r="r" b="b"/>
            <a:pathLst>
              <a:path w="1214755" h="847725">
                <a:moveTo>
                  <a:pt x="420748" y="847725"/>
                </a:moveTo>
                <a:lnTo>
                  <a:pt x="780403" y="847725"/>
                </a:lnTo>
                <a:lnTo>
                  <a:pt x="483748" y="551063"/>
                </a:lnTo>
                <a:lnTo>
                  <a:pt x="1214525" y="551063"/>
                </a:lnTo>
                <a:lnTo>
                  <a:pt x="1214525" y="296647"/>
                </a:lnTo>
                <a:lnTo>
                  <a:pt x="483503" y="296647"/>
                </a:lnTo>
                <a:lnTo>
                  <a:pt x="780403" y="0"/>
                </a:lnTo>
                <a:lnTo>
                  <a:pt x="420760" y="0"/>
                </a:lnTo>
                <a:lnTo>
                  <a:pt x="0" y="420747"/>
                </a:lnTo>
                <a:lnTo>
                  <a:pt x="0" y="426963"/>
                </a:lnTo>
                <a:lnTo>
                  <a:pt x="420748" y="847725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66214" y="1037967"/>
            <a:ext cx="890269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100" spc="-185" dirty="0">
                <a:latin typeface="Verdana"/>
                <a:cs typeface="Verdana"/>
              </a:rPr>
              <a:t>Borcelle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7956" y="788237"/>
            <a:ext cx="2533015" cy="988060"/>
          </a:xfrm>
          <a:custGeom>
            <a:avLst/>
            <a:gdLst/>
            <a:ahLst/>
            <a:cxnLst/>
            <a:rect l="l" t="t" r="r" b="b"/>
            <a:pathLst>
              <a:path w="2533015" h="988060">
                <a:moveTo>
                  <a:pt x="2532799" y="0"/>
                </a:moveTo>
                <a:lnTo>
                  <a:pt x="0" y="0"/>
                </a:lnTo>
                <a:lnTo>
                  <a:pt x="0" y="987793"/>
                </a:lnTo>
                <a:lnTo>
                  <a:pt x="2532799" y="987793"/>
                </a:lnTo>
                <a:lnTo>
                  <a:pt x="25327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39629" y="3880954"/>
            <a:ext cx="4144010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spc="-434" dirty="0">
                <a:latin typeface="Arial MT"/>
                <a:cs typeface="Arial MT"/>
              </a:rPr>
              <a:t>C</a:t>
            </a:r>
            <a:r>
              <a:rPr sz="7300" spc="-434" dirty="0">
                <a:latin typeface="Verdana"/>
                <a:cs typeface="Verdana"/>
              </a:rPr>
              <a:t>ustomer</a:t>
            </a:r>
            <a:endParaRPr sz="7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39629" y="3147491"/>
            <a:ext cx="2088514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spc="-409" dirty="0">
                <a:latin typeface="Verdana"/>
                <a:cs typeface="Verdana"/>
              </a:rPr>
              <a:t>Ban</a:t>
            </a:r>
            <a:r>
              <a:rPr sz="7300" spc="-409" dirty="0">
                <a:latin typeface="Arial MT"/>
                <a:cs typeface="Arial MT"/>
              </a:rPr>
              <a:t>k</a:t>
            </a:r>
            <a:endParaRPr sz="73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239629" y="2414028"/>
            <a:ext cx="510730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spc="-595" dirty="0"/>
              <a:t>Why</a:t>
            </a:r>
            <a:r>
              <a:rPr sz="7300" spc="-960" dirty="0"/>
              <a:t> </a:t>
            </a:r>
            <a:r>
              <a:rPr sz="7300" spc="-220" dirty="0">
                <a:latin typeface="Arial MT"/>
                <a:cs typeface="Arial MT"/>
              </a:rPr>
              <a:t>P</a:t>
            </a:r>
            <a:r>
              <a:rPr sz="7300" spc="-220" dirty="0"/>
              <a:t>redict</a:t>
            </a:r>
            <a:endParaRPr sz="7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39629" y="4614430"/>
            <a:ext cx="6773545" cy="376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spc="-440" dirty="0">
                <a:latin typeface="Arial MT"/>
                <a:cs typeface="Arial MT"/>
              </a:rPr>
              <a:t>C</a:t>
            </a:r>
            <a:r>
              <a:rPr sz="7300" spc="-440" dirty="0">
                <a:latin typeface="Verdana"/>
                <a:cs typeface="Verdana"/>
              </a:rPr>
              <a:t>hurn?</a:t>
            </a:r>
            <a:endParaRPr sz="7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00" spc="-90" dirty="0">
                <a:latin typeface="Verdana"/>
                <a:cs typeface="Verdana"/>
              </a:rPr>
              <a:t>Losing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customers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directly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impacts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14" dirty="0">
                <a:latin typeface="Verdana"/>
                <a:cs typeface="Verdana"/>
              </a:rPr>
              <a:t>revenue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and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mar</a:t>
            </a:r>
            <a:r>
              <a:rPr sz="1700" spc="-110" dirty="0">
                <a:latin typeface="Arial MT"/>
                <a:cs typeface="Arial MT"/>
              </a:rPr>
              <a:t>k</a:t>
            </a:r>
            <a:r>
              <a:rPr sz="1700" spc="-110" dirty="0">
                <a:latin typeface="Verdana"/>
                <a:cs typeface="Verdana"/>
              </a:rPr>
              <a:t>et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14" dirty="0">
                <a:latin typeface="Verdana"/>
                <a:cs typeface="Verdana"/>
              </a:rPr>
              <a:t>position.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25" dirty="0">
                <a:latin typeface="Arial MT"/>
                <a:cs typeface="Arial MT"/>
              </a:rPr>
              <a:t>I</a:t>
            </a:r>
            <a:r>
              <a:rPr sz="1700" spc="-25" dirty="0">
                <a:latin typeface="Verdana"/>
                <a:cs typeface="Verdana"/>
              </a:rPr>
              <a:t>n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13999"/>
              </a:lnSpc>
            </a:pPr>
            <a:r>
              <a:rPr sz="1700" spc="-90" dirty="0">
                <a:latin typeface="Verdana"/>
                <a:cs typeface="Verdana"/>
              </a:rPr>
              <a:t>today</a:t>
            </a:r>
            <a:r>
              <a:rPr sz="1700" spc="-90" dirty="0">
                <a:latin typeface="Arial MT"/>
                <a:cs typeface="Arial MT"/>
              </a:rPr>
              <a:t>'</a:t>
            </a:r>
            <a:r>
              <a:rPr sz="1700" spc="-90" dirty="0">
                <a:latin typeface="Verdana"/>
                <a:cs typeface="Verdana"/>
              </a:rPr>
              <a:t>s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competitive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ban</a:t>
            </a:r>
            <a:r>
              <a:rPr sz="1700" spc="-100" dirty="0">
                <a:latin typeface="Arial MT"/>
                <a:cs typeface="Arial MT"/>
              </a:rPr>
              <a:t>k</a:t>
            </a:r>
            <a:r>
              <a:rPr sz="1700" spc="-100" dirty="0">
                <a:latin typeface="Verdana"/>
                <a:cs typeface="Verdana"/>
              </a:rPr>
              <a:t>ing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landscape,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customer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retention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is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more </a:t>
            </a:r>
            <a:r>
              <a:rPr sz="1700" spc="-85" dirty="0">
                <a:latin typeface="Verdana"/>
                <a:cs typeface="Verdana"/>
              </a:rPr>
              <a:t>critical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35" dirty="0">
                <a:latin typeface="Verdana"/>
                <a:cs typeface="Verdana"/>
              </a:rPr>
              <a:t>than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14" dirty="0">
                <a:latin typeface="Verdana"/>
                <a:cs typeface="Verdana"/>
              </a:rPr>
              <a:t>ever.Ban</a:t>
            </a:r>
            <a:r>
              <a:rPr sz="1700" spc="-114" dirty="0">
                <a:latin typeface="Arial MT"/>
                <a:cs typeface="Arial MT"/>
              </a:rPr>
              <a:t>k</a:t>
            </a:r>
            <a:r>
              <a:rPr sz="1700" spc="-114" dirty="0">
                <a:latin typeface="Verdana"/>
                <a:cs typeface="Verdana"/>
              </a:rPr>
              <a:t>s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60" dirty="0">
                <a:latin typeface="Verdana"/>
                <a:cs typeface="Verdana"/>
              </a:rPr>
              <a:t>face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70" dirty="0">
                <a:latin typeface="Verdana"/>
                <a:cs typeface="Verdana"/>
              </a:rPr>
              <a:t>fierce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competition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and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14" dirty="0">
                <a:latin typeface="Verdana"/>
                <a:cs typeface="Verdana"/>
              </a:rPr>
              <a:t>rapidly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evolving </a:t>
            </a:r>
            <a:r>
              <a:rPr sz="1700" spc="-105" dirty="0">
                <a:latin typeface="Verdana"/>
                <a:cs typeface="Verdana"/>
              </a:rPr>
              <a:t>customer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14" dirty="0">
                <a:latin typeface="Verdana"/>
                <a:cs typeface="Verdana"/>
              </a:rPr>
              <a:t>expectations.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Traditional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approaches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20" dirty="0">
                <a:latin typeface="Verdana"/>
                <a:cs typeface="Verdana"/>
              </a:rPr>
              <a:t>are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14" dirty="0">
                <a:latin typeface="Verdana"/>
                <a:cs typeface="Verdana"/>
              </a:rPr>
              <a:t>no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longer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60" dirty="0">
                <a:latin typeface="Verdana"/>
                <a:cs typeface="Verdana"/>
              </a:rPr>
              <a:t>sufficient </a:t>
            </a:r>
            <a:r>
              <a:rPr sz="1700" spc="-85" dirty="0">
                <a:latin typeface="Verdana"/>
                <a:cs typeface="Verdana"/>
              </a:rPr>
              <a:t>to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40" dirty="0">
                <a:latin typeface="Verdana"/>
                <a:cs typeface="Verdana"/>
              </a:rPr>
              <a:t>maintain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loyalty.</a:t>
            </a:r>
            <a:r>
              <a:rPr sz="1700" spc="-105" dirty="0">
                <a:latin typeface="Arial MT"/>
                <a:cs typeface="Arial MT"/>
              </a:rPr>
              <a:t>P</a:t>
            </a:r>
            <a:r>
              <a:rPr sz="1700" spc="-105" dirty="0">
                <a:latin typeface="Verdana"/>
                <a:cs typeface="Verdana"/>
              </a:rPr>
              <a:t>redictive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analytics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enables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proactive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retention </a:t>
            </a:r>
            <a:r>
              <a:rPr sz="1700" spc="-114" dirty="0">
                <a:latin typeface="Verdana"/>
                <a:cs typeface="Verdana"/>
              </a:rPr>
              <a:t>strategies,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allo</a:t>
            </a:r>
            <a:r>
              <a:rPr sz="1700" spc="-95" dirty="0">
                <a:latin typeface="Arial MT"/>
                <a:cs typeface="Arial MT"/>
              </a:rPr>
              <a:t>w</a:t>
            </a:r>
            <a:r>
              <a:rPr sz="1700" spc="-95" dirty="0">
                <a:latin typeface="Verdana"/>
                <a:cs typeface="Verdana"/>
              </a:rPr>
              <a:t>ing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ban</a:t>
            </a:r>
            <a:r>
              <a:rPr sz="1700" spc="-95" dirty="0">
                <a:latin typeface="Arial MT"/>
                <a:cs typeface="Arial MT"/>
              </a:rPr>
              <a:t>k</a:t>
            </a:r>
            <a:r>
              <a:rPr sz="1700" spc="-95" dirty="0">
                <a:latin typeface="Verdana"/>
                <a:cs typeface="Verdana"/>
              </a:rPr>
              <a:t>s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to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intervene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80" dirty="0">
                <a:latin typeface="Verdana"/>
                <a:cs typeface="Verdana"/>
              </a:rPr>
              <a:t>before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customers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leave.</a:t>
            </a:r>
            <a:endParaRPr sz="1700">
              <a:latin typeface="Verdana"/>
              <a:cs typeface="Verdana"/>
            </a:endParaRPr>
          </a:p>
          <a:p>
            <a:pPr marL="12700" marR="750570">
              <a:lnSpc>
                <a:spcPct val="113999"/>
              </a:lnSpc>
            </a:pPr>
            <a:r>
              <a:rPr sz="1700" spc="-110" dirty="0">
                <a:latin typeface="Arial MT"/>
                <a:cs typeface="Arial MT"/>
              </a:rPr>
              <a:t>C</a:t>
            </a:r>
            <a:r>
              <a:rPr sz="1700" spc="-110" dirty="0">
                <a:latin typeface="Verdana"/>
                <a:cs typeface="Verdana"/>
              </a:rPr>
              <a:t>hurn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prediction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20" dirty="0">
                <a:latin typeface="Verdana"/>
                <a:cs typeface="Verdana"/>
              </a:rPr>
              <a:t>transforms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90" dirty="0">
                <a:latin typeface="Verdana"/>
                <a:cs typeface="Verdana"/>
              </a:rPr>
              <a:t>ra</a:t>
            </a:r>
            <a:r>
              <a:rPr sz="1700" spc="-90" dirty="0">
                <a:latin typeface="Arial MT"/>
                <a:cs typeface="Arial MT"/>
              </a:rPr>
              <a:t>w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10" dirty="0">
                <a:latin typeface="Verdana"/>
                <a:cs typeface="Verdana"/>
              </a:rPr>
              <a:t>data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into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actionable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insights, </a:t>
            </a:r>
            <a:r>
              <a:rPr sz="1700" spc="-105" dirty="0">
                <a:latin typeface="Verdana"/>
                <a:cs typeface="Verdana"/>
              </a:rPr>
              <a:t>empo</a:t>
            </a:r>
            <a:r>
              <a:rPr sz="1700" spc="-105" dirty="0">
                <a:latin typeface="Arial MT"/>
                <a:cs typeface="Arial MT"/>
              </a:rPr>
              <a:t>w</a:t>
            </a:r>
            <a:r>
              <a:rPr sz="1700" spc="-105" dirty="0">
                <a:latin typeface="Verdana"/>
                <a:cs typeface="Verdana"/>
              </a:rPr>
              <a:t>ering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teams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to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ma</a:t>
            </a:r>
            <a:r>
              <a:rPr sz="1700" spc="-110" dirty="0">
                <a:latin typeface="Arial MT"/>
                <a:cs typeface="Arial MT"/>
              </a:rPr>
              <a:t>k</a:t>
            </a:r>
            <a:r>
              <a:rPr sz="1700" spc="-110" dirty="0">
                <a:latin typeface="Verdana"/>
                <a:cs typeface="Verdana"/>
              </a:rPr>
              <a:t>e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90" dirty="0">
                <a:latin typeface="Verdana"/>
                <a:cs typeface="Verdana"/>
              </a:rPr>
              <a:t>data</a:t>
            </a:r>
            <a:r>
              <a:rPr sz="1700" spc="-90" dirty="0">
                <a:latin typeface="Arial MT"/>
                <a:cs typeface="Arial MT"/>
              </a:rPr>
              <a:t>-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14" dirty="0">
                <a:latin typeface="Verdana"/>
                <a:cs typeface="Verdana"/>
              </a:rPr>
              <a:t>driven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decisions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that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50" dirty="0">
                <a:latin typeface="Verdana"/>
                <a:cs typeface="Verdana"/>
              </a:rPr>
              <a:t>protect </a:t>
            </a:r>
            <a:r>
              <a:rPr sz="1700" spc="-114" dirty="0">
                <a:latin typeface="Verdana"/>
                <a:cs typeface="Verdana"/>
              </a:rPr>
              <a:t>revenue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and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enhance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customer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relationships.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9662" y="3154544"/>
            <a:ext cx="6508242" cy="609503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920590" y="1028708"/>
            <a:ext cx="3390265" cy="969644"/>
          </a:xfrm>
          <a:custGeom>
            <a:avLst/>
            <a:gdLst/>
            <a:ahLst/>
            <a:cxnLst/>
            <a:rect l="l" t="t" r="r" b="b"/>
            <a:pathLst>
              <a:path w="3390265" h="969644">
                <a:moveTo>
                  <a:pt x="3389754" y="484734"/>
                </a:moveTo>
                <a:lnTo>
                  <a:pt x="3387536" y="531430"/>
                </a:lnTo>
                <a:lnTo>
                  <a:pt x="3381017" y="576867"/>
                </a:lnTo>
                <a:lnTo>
                  <a:pt x="3370399" y="620843"/>
                </a:lnTo>
                <a:lnTo>
                  <a:pt x="3355886" y="663154"/>
                </a:lnTo>
                <a:lnTo>
                  <a:pt x="3337680" y="703599"/>
                </a:lnTo>
                <a:lnTo>
                  <a:pt x="3315984" y="741974"/>
                </a:lnTo>
                <a:lnTo>
                  <a:pt x="3291002" y="778076"/>
                </a:lnTo>
                <a:lnTo>
                  <a:pt x="3262935" y="811702"/>
                </a:lnTo>
                <a:lnTo>
                  <a:pt x="3231987" y="842650"/>
                </a:lnTo>
                <a:lnTo>
                  <a:pt x="3198361" y="870717"/>
                </a:lnTo>
                <a:lnTo>
                  <a:pt x="3162259" y="895699"/>
                </a:lnTo>
                <a:lnTo>
                  <a:pt x="3123884" y="917395"/>
                </a:lnTo>
                <a:lnTo>
                  <a:pt x="3083439" y="935601"/>
                </a:lnTo>
                <a:lnTo>
                  <a:pt x="3041128" y="950114"/>
                </a:lnTo>
                <a:lnTo>
                  <a:pt x="2997152" y="960732"/>
                </a:lnTo>
                <a:lnTo>
                  <a:pt x="2951715" y="967251"/>
                </a:lnTo>
                <a:lnTo>
                  <a:pt x="2905019" y="969469"/>
                </a:lnTo>
                <a:lnTo>
                  <a:pt x="2855212" y="966928"/>
                </a:lnTo>
                <a:lnTo>
                  <a:pt x="2806836" y="959474"/>
                </a:lnTo>
                <a:lnTo>
                  <a:pt x="2760144" y="947357"/>
                </a:lnTo>
                <a:lnTo>
                  <a:pt x="2715388" y="930832"/>
                </a:lnTo>
                <a:lnTo>
                  <a:pt x="2672821" y="910149"/>
                </a:lnTo>
                <a:lnTo>
                  <a:pt x="2632695" y="885561"/>
                </a:lnTo>
                <a:lnTo>
                  <a:pt x="2595261" y="857320"/>
                </a:lnTo>
                <a:lnTo>
                  <a:pt x="2560772" y="825679"/>
                </a:lnTo>
                <a:lnTo>
                  <a:pt x="2529481" y="790889"/>
                </a:lnTo>
                <a:lnTo>
                  <a:pt x="2501639" y="753203"/>
                </a:lnTo>
                <a:lnTo>
                  <a:pt x="2473797" y="790889"/>
                </a:lnTo>
                <a:lnTo>
                  <a:pt x="2442505" y="825679"/>
                </a:lnTo>
                <a:lnTo>
                  <a:pt x="2408016" y="857320"/>
                </a:lnTo>
                <a:lnTo>
                  <a:pt x="2370583" y="885561"/>
                </a:lnTo>
                <a:lnTo>
                  <a:pt x="2330456" y="910149"/>
                </a:lnTo>
                <a:lnTo>
                  <a:pt x="2287889" y="930832"/>
                </a:lnTo>
                <a:lnTo>
                  <a:pt x="2243133" y="947357"/>
                </a:lnTo>
                <a:lnTo>
                  <a:pt x="2196441" y="959474"/>
                </a:lnTo>
                <a:lnTo>
                  <a:pt x="2148066" y="966928"/>
                </a:lnTo>
                <a:lnTo>
                  <a:pt x="2098258" y="969469"/>
                </a:lnTo>
                <a:lnTo>
                  <a:pt x="2048450" y="966928"/>
                </a:lnTo>
                <a:lnTo>
                  <a:pt x="2000074" y="959474"/>
                </a:lnTo>
                <a:lnTo>
                  <a:pt x="1953382" y="947357"/>
                </a:lnTo>
                <a:lnTo>
                  <a:pt x="1908627" y="930832"/>
                </a:lnTo>
                <a:lnTo>
                  <a:pt x="1866060" y="910149"/>
                </a:lnTo>
                <a:lnTo>
                  <a:pt x="1825933" y="885561"/>
                </a:lnTo>
                <a:lnTo>
                  <a:pt x="1788499" y="857320"/>
                </a:lnTo>
                <a:lnTo>
                  <a:pt x="1754011" y="825679"/>
                </a:lnTo>
                <a:lnTo>
                  <a:pt x="1722719" y="790889"/>
                </a:lnTo>
                <a:lnTo>
                  <a:pt x="1694877" y="753203"/>
                </a:lnTo>
                <a:lnTo>
                  <a:pt x="1667035" y="790889"/>
                </a:lnTo>
                <a:lnTo>
                  <a:pt x="1635743" y="825679"/>
                </a:lnTo>
                <a:lnTo>
                  <a:pt x="1601255" y="857320"/>
                </a:lnTo>
                <a:lnTo>
                  <a:pt x="1563821" y="885561"/>
                </a:lnTo>
                <a:lnTo>
                  <a:pt x="1523694" y="910149"/>
                </a:lnTo>
                <a:lnTo>
                  <a:pt x="1481127" y="930832"/>
                </a:lnTo>
                <a:lnTo>
                  <a:pt x="1436372" y="947357"/>
                </a:lnTo>
                <a:lnTo>
                  <a:pt x="1389680" y="959474"/>
                </a:lnTo>
                <a:lnTo>
                  <a:pt x="1341304" y="966928"/>
                </a:lnTo>
                <a:lnTo>
                  <a:pt x="1291496" y="969469"/>
                </a:lnTo>
                <a:lnTo>
                  <a:pt x="1241688" y="966928"/>
                </a:lnTo>
                <a:lnTo>
                  <a:pt x="1193313" y="959474"/>
                </a:lnTo>
                <a:lnTo>
                  <a:pt x="1146621" y="947357"/>
                </a:lnTo>
                <a:lnTo>
                  <a:pt x="1101865" y="930832"/>
                </a:lnTo>
                <a:lnTo>
                  <a:pt x="1059298" y="910149"/>
                </a:lnTo>
                <a:lnTo>
                  <a:pt x="1019171" y="885561"/>
                </a:lnTo>
                <a:lnTo>
                  <a:pt x="981738" y="857320"/>
                </a:lnTo>
                <a:lnTo>
                  <a:pt x="947249" y="825679"/>
                </a:lnTo>
                <a:lnTo>
                  <a:pt x="915957" y="790889"/>
                </a:lnTo>
                <a:lnTo>
                  <a:pt x="888115" y="753203"/>
                </a:lnTo>
                <a:lnTo>
                  <a:pt x="860273" y="790889"/>
                </a:lnTo>
                <a:lnTo>
                  <a:pt x="828982" y="825679"/>
                </a:lnTo>
                <a:lnTo>
                  <a:pt x="794493" y="857320"/>
                </a:lnTo>
                <a:lnTo>
                  <a:pt x="757059" y="885561"/>
                </a:lnTo>
                <a:lnTo>
                  <a:pt x="716933" y="910149"/>
                </a:lnTo>
                <a:lnTo>
                  <a:pt x="674365" y="930832"/>
                </a:lnTo>
                <a:lnTo>
                  <a:pt x="629610" y="947357"/>
                </a:lnTo>
                <a:lnTo>
                  <a:pt x="582918" y="959474"/>
                </a:lnTo>
                <a:lnTo>
                  <a:pt x="534542" y="966928"/>
                </a:lnTo>
                <a:lnTo>
                  <a:pt x="484734" y="969469"/>
                </a:lnTo>
                <a:lnTo>
                  <a:pt x="438039" y="967251"/>
                </a:lnTo>
                <a:lnTo>
                  <a:pt x="392602" y="960732"/>
                </a:lnTo>
                <a:lnTo>
                  <a:pt x="348626" y="950114"/>
                </a:lnTo>
                <a:lnTo>
                  <a:pt x="306315" y="935601"/>
                </a:lnTo>
                <a:lnTo>
                  <a:pt x="265870" y="917395"/>
                </a:lnTo>
                <a:lnTo>
                  <a:pt x="227495" y="895699"/>
                </a:lnTo>
                <a:lnTo>
                  <a:pt x="191393" y="870717"/>
                </a:lnTo>
                <a:lnTo>
                  <a:pt x="157767" y="842650"/>
                </a:lnTo>
                <a:lnTo>
                  <a:pt x="126819" y="811702"/>
                </a:lnTo>
                <a:lnTo>
                  <a:pt x="98752" y="778076"/>
                </a:lnTo>
                <a:lnTo>
                  <a:pt x="73770" y="741974"/>
                </a:lnTo>
                <a:lnTo>
                  <a:pt x="52074" y="703599"/>
                </a:lnTo>
                <a:lnTo>
                  <a:pt x="33868" y="663154"/>
                </a:lnTo>
                <a:lnTo>
                  <a:pt x="19355" y="620843"/>
                </a:lnTo>
                <a:lnTo>
                  <a:pt x="8737" y="576867"/>
                </a:lnTo>
                <a:lnTo>
                  <a:pt x="2218" y="531430"/>
                </a:lnTo>
                <a:lnTo>
                  <a:pt x="0" y="484734"/>
                </a:lnTo>
                <a:lnTo>
                  <a:pt x="2218" y="438039"/>
                </a:lnTo>
                <a:lnTo>
                  <a:pt x="8737" y="392602"/>
                </a:lnTo>
                <a:lnTo>
                  <a:pt x="19355" y="348626"/>
                </a:lnTo>
                <a:lnTo>
                  <a:pt x="33868" y="306315"/>
                </a:lnTo>
                <a:lnTo>
                  <a:pt x="52074" y="265870"/>
                </a:lnTo>
                <a:lnTo>
                  <a:pt x="73770" y="227495"/>
                </a:lnTo>
                <a:lnTo>
                  <a:pt x="98752" y="191393"/>
                </a:lnTo>
                <a:lnTo>
                  <a:pt x="126819" y="157767"/>
                </a:lnTo>
                <a:lnTo>
                  <a:pt x="157767" y="126819"/>
                </a:lnTo>
                <a:lnTo>
                  <a:pt x="191393" y="98752"/>
                </a:lnTo>
                <a:lnTo>
                  <a:pt x="227495" y="73770"/>
                </a:lnTo>
                <a:lnTo>
                  <a:pt x="265870" y="52074"/>
                </a:lnTo>
                <a:lnTo>
                  <a:pt x="306315" y="33868"/>
                </a:lnTo>
                <a:lnTo>
                  <a:pt x="348626" y="19355"/>
                </a:lnTo>
                <a:lnTo>
                  <a:pt x="392602" y="8737"/>
                </a:lnTo>
                <a:lnTo>
                  <a:pt x="438039" y="2218"/>
                </a:lnTo>
                <a:lnTo>
                  <a:pt x="484734" y="0"/>
                </a:lnTo>
                <a:lnTo>
                  <a:pt x="534542" y="2540"/>
                </a:lnTo>
                <a:lnTo>
                  <a:pt x="582918" y="9995"/>
                </a:lnTo>
                <a:lnTo>
                  <a:pt x="629610" y="22112"/>
                </a:lnTo>
                <a:lnTo>
                  <a:pt x="674365" y="38637"/>
                </a:lnTo>
                <a:lnTo>
                  <a:pt x="716933" y="59320"/>
                </a:lnTo>
                <a:lnTo>
                  <a:pt x="757059" y="83908"/>
                </a:lnTo>
                <a:lnTo>
                  <a:pt x="794493" y="112149"/>
                </a:lnTo>
                <a:lnTo>
                  <a:pt x="828982" y="143790"/>
                </a:lnTo>
                <a:lnTo>
                  <a:pt x="860273" y="178580"/>
                </a:lnTo>
                <a:lnTo>
                  <a:pt x="888115" y="216266"/>
                </a:lnTo>
                <a:lnTo>
                  <a:pt x="915957" y="178580"/>
                </a:lnTo>
                <a:lnTo>
                  <a:pt x="947249" y="143790"/>
                </a:lnTo>
                <a:lnTo>
                  <a:pt x="981738" y="112149"/>
                </a:lnTo>
                <a:lnTo>
                  <a:pt x="1019171" y="83908"/>
                </a:lnTo>
                <a:lnTo>
                  <a:pt x="1059298" y="59320"/>
                </a:lnTo>
                <a:lnTo>
                  <a:pt x="1101865" y="38637"/>
                </a:lnTo>
                <a:lnTo>
                  <a:pt x="1146621" y="22112"/>
                </a:lnTo>
                <a:lnTo>
                  <a:pt x="1193313" y="9995"/>
                </a:lnTo>
                <a:lnTo>
                  <a:pt x="1241688" y="2540"/>
                </a:lnTo>
                <a:lnTo>
                  <a:pt x="1291496" y="0"/>
                </a:lnTo>
                <a:lnTo>
                  <a:pt x="1341304" y="2540"/>
                </a:lnTo>
                <a:lnTo>
                  <a:pt x="1389680" y="9995"/>
                </a:lnTo>
                <a:lnTo>
                  <a:pt x="1436372" y="22112"/>
                </a:lnTo>
                <a:lnTo>
                  <a:pt x="1481127" y="38637"/>
                </a:lnTo>
                <a:lnTo>
                  <a:pt x="1523694" y="59320"/>
                </a:lnTo>
                <a:lnTo>
                  <a:pt x="1563821" y="83908"/>
                </a:lnTo>
                <a:lnTo>
                  <a:pt x="1601255" y="112149"/>
                </a:lnTo>
                <a:lnTo>
                  <a:pt x="1635743" y="143790"/>
                </a:lnTo>
                <a:lnTo>
                  <a:pt x="1667035" y="178580"/>
                </a:lnTo>
                <a:lnTo>
                  <a:pt x="1694877" y="216266"/>
                </a:lnTo>
                <a:lnTo>
                  <a:pt x="1722719" y="178580"/>
                </a:lnTo>
                <a:lnTo>
                  <a:pt x="1754011" y="143790"/>
                </a:lnTo>
                <a:lnTo>
                  <a:pt x="1788499" y="112149"/>
                </a:lnTo>
                <a:lnTo>
                  <a:pt x="1825933" y="83908"/>
                </a:lnTo>
                <a:lnTo>
                  <a:pt x="1866060" y="59320"/>
                </a:lnTo>
                <a:lnTo>
                  <a:pt x="1908627" y="38637"/>
                </a:lnTo>
                <a:lnTo>
                  <a:pt x="1953382" y="22112"/>
                </a:lnTo>
                <a:lnTo>
                  <a:pt x="2000074" y="9995"/>
                </a:lnTo>
                <a:lnTo>
                  <a:pt x="2048450" y="2540"/>
                </a:lnTo>
                <a:lnTo>
                  <a:pt x="2098258" y="0"/>
                </a:lnTo>
                <a:lnTo>
                  <a:pt x="2148066" y="2540"/>
                </a:lnTo>
                <a:lnTo>
                  <a:pt x="2196441" y="9995"/>
                </a:lnTo>
                <a:lnTo>
                  <a:pt x="2243133" y="22112"/>
                </a:lnTo>
                <a:lnTo>
                  <a:pt x="2287889" y="38637"/>
                </a:lnTo>
                <a:lnTo>
                  <a:pt x="2330456" y="59320"/>
                </a:lnTo>
                <a:lnTo>
                  <a:pt x="2370583" y="83908"/>
                </a:lnTo>
                <a:lnTo>
                  <a:pt x="2408016" y="112149"/>
                </a:lnTo>
                <a:lnTo>
                  <a:pt x="2442505" y="143790"/>
                </a:lnTo>
                <a:lnTo>
                  <a:pt x="2473797" y="178580"/>
                </a:lnTo>
                <a:lnTo>
                  <a:pt x="2501639" y="216266"/>
                </a:lnTo>
                <a:lnTo>
                  <a:pt x="2529481" y="178580"/>
                </a:lnTo>
                <a:lnTo>
                  <a:pt x="2560772" y="143790"/>
                </a:lnTo>
                <a:lnTo>
                  <a:pt x="2595261" y="112149"/>
                </a:lnTo>
                <a:lnTo>
                  <a:pt x="2632695" y="83908"/>
                </a:lnTo>
                <a:lnTo>
                  <a:pt x="2672821" y="59320"/>
                </a:lnTo>
                <a:lnTo>
                  <a:pt x="2715388" y="38637"/>
                </a:lnTo>
                <a:lnTo>
                  <a:pt x="2760144" y="22112"/>
                </a:lnTo>
                <a:lnTo>
                  <a:pt x="2806836" y="9995"/>
                </a:lnTo>
                <a:lnTo>
                  <a:pt x="2855212" y="2540"/>
                </a:lnTo>
                <a:lnTo>
                  <a:pt x="2905019" y="0"/>
                </a:lnTo>
                <a:lnTo>
                  <a:pt x="2951715" y="2218"/>
                </a:lnTo>
                <a:lnTo>
                  <a:pt x="2997152" y="8737"/>
                </a:lnTo>
                <a:lnTo>
                  <a:pt x="3041128" y="19355"/>
                </a:lnTo>
                <a:lnTo>
                  <a:pt x="3083439" y="33868"/>
                </a:lnTo>
                <a:lnTo>
                  <a:pt x="3123884" y="52074"/>
                </a:lnTo>
                <a:lnTo>
                  <a:pt x="3162259" y="73770"/>
                </a:lnTo>
                <a:lnTo>
                  <a:pt x="3198361" y="98752"/>
                </a:lnTo>
                <a:lnTo>
                  <a:pt x="3231987" y="126819"/>
                </a:lnTo>
                <a:lnTo>
                  <a:pt x="3262935" y="157767"/>
                </a:lnTo>
                <a:lnTo>
                  <a:pt x="3291002" y="191393"/>
                </a:lnTo>
                <a:lnTo>
                  <a:pt x="3315984" y="227495"/>
                </a:lnTo>
                <a:lnTo>
                  <a:pt x="3337680" y="265870"/>
                </a:lnTo>
                <a:lnTo>
                  <a:pt x="3355886" y="306315"/>
                </a:lnTo>
                <a:lnTo>
                  <a:pt x="3370399" y="348626"/>
                </a:lnTo>
                <a:lnTo>
                  <a:pt x="3381017" y="392602"/>
                </a:lnTo>
                <a:lnTo>
                  <a:pt x="3387536" y="438039"/>
                </a:lnTo>
                <a:lnTo>
                  <a:pt x="3389754" y="484734"/>
                </a:lnTo>
                <a:close/>
              </a:path>
            </a:pathLst>
          </a:custGeom>
          <a:solidFill>
            <a:srgbClr val="3778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66214" y="1037967"/>
            <a:ext cx="890269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100" spc="-185" dirty="0">
                <a:latin typeface="Verdana"/>
                <a:cs typeface="Verdana"/>
              </a:rPr>
              <a:t>Borcelle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7567" y="848105"/>
            <a:ext cx="2443480" cy="718820"/>
          </a:xfrm>
          <a:custGeom>
            <a:avLst/>
            <a:gdLst/>
            <a:ahLst/>
            <a:cxnLst/>
            <a:rect l="l" t="t" r="r" b="b"/>
            <a:pathLst>
              <a:path w="2443479" h="718819">
                <a:moveTo>
                  <a:pt x="2443048" y="0"/>
                </a:moveTo>
                <a:lnTo>
                  <a:pt x="0" y="0"/>
                </a:lnTo>
                <a:lnTo>
                  <a:pt x="0" y="718388"/>
                </a:lnTo>
                <a:lnTo>
                  <a:pt x="2443048" y="718388"/>
                </a:lnTo>
                <a:lnTo>
                  <a:pt x="24430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6000" y="3370122"/>
            <a:ext cx="772668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650" dirty="0">
                <a:latin typeface="Verdana"/>
                <a:cs typeface="Verdana"/>
              </a:rPr>
              <a:t>S</a:t>
            </a:r>
            <a:r>
              <a:rPr sz="8800" spc="-650" dirty="0">
                <a:latin typeface="Arial MT"/>
                <a:cs typeface="Arial MT"/>
              </a:rPr>
              <a:t>P</a:t>
            </a:r>
            <a:r>
              <a:rPr sz="8800" spc="-650" dirty="0">
                <a:latin typeface="Verdana"/>
                <a:cs typeface="Verdana"/>
              </a:rPr>
              <a:t>SS</a:t>
            </a:r>
            <a:r>
              <a:rPr sz="8800" spc="-1155" dirty="0">
                <a:latin typeface="Verdana"/>
                <a:cs typeface="Verdana"/>
              </a:rPr>
              <a:t> </a:t>
            </a:r>
            <a:r>
              <a:rPr sz="8800" spc="-345" dirty="0">
                <a:latin typeface="Verdana"/>
                <a:cs typeface="Verdana"/>
              </a:rPr>
              <a:t>Modeler?</a:t>
            </a:r>
            <a:endParaRPr sz="8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2398572"/>
            <a:ext cx="591185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605" dirty="0"/>
              <a:t>What</a:t>
            </a:r>
            <a:r>
              <a:rPr sz="8800" spc="-1160" dirty="0"/>
              <a:t> </a:t>
            </a:r>
            <a:r>
              <a:rPr sz="8800" spc="-490" dirty="0"/>
              <a:t>is</a:t>
            </a:r>
            <a:r>
              <a:rPr sz="8800" spc="-1155" dirty="0"/>
              <a:t> </a:t>
            </a:r>
            <a:r>
              <a:rPr sz="8800" spc="-25" dirty="0">
                <a:latin typeface="Arial MT"/>
                <a:cs typeface="Arial MT"/>
              </a:rPr>
              <a:t>I</a:t>
            </a:r>
            <a:r>
              <a:rPr sz="8800" spc="-25" dirty="0"/>
              <a:t>BM</a:t>
            </a:r>
            <a:endParaRPr sz="8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5995656"/>
            <a:ext cx="4168775" cy="23876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700" spc="-110" dirty="0">
                <a:latin typeface="Verdana"/>
                <a:cs typeface="Verdana"/>
              </a:rPr>
              <a:t>Visual</a:t>
            </a:r>
            <a:r>
              <a:rPr sz="1700" spc="-225" dirty="0">
                <a:latin typeface="Verdana"/>
                <a:cs typeface="Verdana"/>
              </a:rPr>
              <a:t> </a:t>
            </a:r>
            <a:r>
              <a:rPr sz="1700" spc="-10" dirty="0">
                <a:latin typeface="Arial MT"/>
                <a:cs typeface="Arial MT"/>
              </a:rPr>
              <a:t>P</a:t>
            </a:r>
            <a:r>
              <a:rPr sz="1700" spc="-10" dirty="0">
                <a:latin typeface="Verdana"/>
                <a:cs typeface="Verdana"/>
              </a:rPr>
              <a:t>latform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13999"/>
              </a:lnSpc>
            </a:pPr>
            <a:r>
              <a:rPr sz="1700" spc="-110" dirty="0">
                <a:latin typeface="Verdana"/>
                <a:cs typeface="Verdana"/>
              </a:rPr>
              <a:t>A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leading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120" dirty="0">
                <a:latin typeface="Verdana"/>
                <a:cs typeface="Verdana"/>
              </a:rPr>
              <a:t>visual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data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70" dirty="0">
                <a:latin typeface="Verdana"/>
                <a:cs typeface="Verdana"/>
              </a:rPr>
              <a:t>science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and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machine </a:t>
            </a:r>
            <a:r>
              <a:rPr sz="1700" spc="-120" dirty="0">
                <a:latin typeface="Verdana"/>
                <a:cs typeface="Verdana"/>
              </a:rPr>
              <a:t>learning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platform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by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25" dirty="0">
                <a:latin typeface="Arial MT"/>
                <a:cs typeface="Arial MT"/>
              </a:rPr>
              <a:t>I</a:t>
            </a:r>
            <a:r>
              <a:rPr sz="1700" spc="-25" dirty="0">
                <a:latin typeface="Verdana"/>
                <a:cs typeface="Verdana"/>
              </a:rPr>
              <a:t>B</a:t>
            </a:r>
            <a:r>
              <a:rPr sz="1700" spc="-25" dirty="0">
                <a:latin typeface="Arial MT"/>
                <a:cs typeface="Arial MT"/>
              </a:rPr>
              <a:t>M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110" dirty="0">
                <a:latin typeface="Verdana"/>
                <a:cs typeface="Verdana"/>
              </a:rPr>
              <a:t>that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80" dirty="0">
                <a:latin typeface="Verdana"/>
                <a:cs typeface="Verdana"/>
              </a:rPr>
              <a:t>democrati</a:t>
            </a:r>
            <a:r>
              <a:rPr sz="1700" spc="-80" dirty="0">
                <a:latin typeface="Arial MT"/>
                <a:cs typeface="Arial MT"/>
              </a:rPr>
              <a:t>z</a:t>
            </a:r>
            <a:r>
              <a:rPr sz="1700" spc="-80" dirty="0">
                <a:latin typeface="Verdana"/>
                <a:cs typeface="Verdana"/>
              </a:rPr>
              <a:t>es </a:t>
            </a:r>
            <a:r>
              <a:rPr sz="1700" spc="-100" dirty="0">
                <a:latin typeface="Verdana"/>
                <a:cs typeface="Verdana"/>
              </a:rPr>
              <a:t>analytics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for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business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users.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700" spc="-45" dirty="0">
                <a:latin typeface="Verdana"/>
                <a:cs typeface="Verdana"/>
              </a:rPr>
              <a:t>No</a:t>
            </a:r>
            <a:r>
              <a:rPr sz="1700" spc="-45" dirty="0">
                <a:latin typeface="Arial MT"/>
                <a:cs typeface="Arial MT"/>
              </a:rPr>
              <a:t>-</a:t>
            </a:r>
            <a:r>
              <a:rPr sz="1700" spc="-65" dirty="0">
                <a:latin typeface="Arial MT"/>
                <a:cs typeface="Arial MT"/>
              </a:rPr>
              <a:t>C</a:t>
            </a:r>
            <a:r>
              <a:rPr sz="1700" spc="-65" dirty="0">
                <a:latin typeface="Verdana"/>
                <a:cs typeface="Verdana"/>
              </a:rPr>
              <a:t>ode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0" dirty="0">
                <a:latin typeface="Arial MT"/>
                <a:cs typeface="Arial MT"/>
              </a:rPr>
              <a:t>I</a:t>
            </a:r>
            <a:r>
              <a:rPr sz="1700" spc="-10" dirty="0">
                <a:latin typeface="Verdana"/>
                <a:cs typeface="Verdana"/>
              </a:rPr>
              <a:t>nterface</a:t>
            </a:r>
            <a:endParaRPr sz="1700">
              <a:latin typeface="Verdana"/>
              <a:cs typeface="Verdana"/>
            </a:endParaRPr>
          </a:p>
          <a:p>
            <a:pPr marL="12700" marR="10795">
              <a:lnSpc>
                <a:spcPct val="113999"/>
              </a:lnSpc>
            </a:pPr>
            <a:r>
              <a:rPr sz="1700" spc="-105" dirty="0">
                <a:latin typeface="Verdana"/>
                <a:cs typeface="Verdana"/>
              </a:rPr>
              <a:t>Drag</a:t>
            </a:r>
            <a:r>
              <a:rPr sz="1700" spc="-105" dirty="0">
                <a:latin typeface="Arial MT"/>
                <a:cs typeface="Arial MT"/>
              </a:rPr>
              <a:t>-</a:t>
            </a:r>
            <a:r>
              <a:rPr sz="1700" spc="-95" dirty="0">
                <a:latin typeface="Verdana"/>
                <a:cs typeface="Verdana"/>
              </a:rPr>
              <a:t>and</a:t>
            </a:r>
            <a:r>
              <a:rPr sz="1700" spc="-95" dirty="0">
                <a:latin typeface="Arial MT"/>
                <a:cs typeface="Arial MT"/>
              </a:rPr>
              <a:t>-</a:t>
            </a:r>
            <a:r>
              <a:rPr sz="1700" spc="-95" dirty="0">
                <a:latin typeface="Verdana"/>
                <a:cs typeface="Verdana"/>
              </a:rPr>
              <a:t>drop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90" dirty="0">
                <a:latin typeface="Verdana"/>
                <a:cs typeface="Verdana"/>
              </a:rPr>
              <a:t>interface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for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building </a:t>
            </a:r>
            <a:r>
              <a:rPr sz="1700" spc="-90" dirty="0">
                <a:latin typeface="Verdana"/>
                <a:cs typeface="Verdana"/>
              </a:rPr>
              <a:t>predictive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models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95" dirty="0">
                <a:latin typeface="Arial MT"/>
                <a:cs typeface="Arial MT"/>
              </a:rPr>
              <a:t>w</a:t>
            </a:r>
            <a:r>
              <a:rPr sz="1700" spc="-95" dirty="0">
                <a:latin typeface="Verdana"/>
                <a:cs typeface="Verdana"/>
              </a:rPr>
              <a:t>ithout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80" dirty="0">
                <a:latin typeface="Verdana"/>
                <a:cs typeface="Verdana"/>
              </a:rPr>
              <a:t>coding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55" dirty="0">
                <a:latin typeface="Verdana"/>
                <a:cs typeface="Verdana"/>
              </a:rPr>
              <a:t>e</a:t>
            </a:r>
            <a:r>
              <a:rPr sz="1700" spc="-55" dirty="0">
                <a:latin typeface="Arial MT"/>
                <a:cs typeface="Arial MT"/>
              </a:rPr>
              <a:t>x</a:t>
            </a:r>
            <a:r>
              <a:rPr sz="1700" spc="-55" dirty="0">
                <a:latin typeface="Verdana"/>
                <a:cs typeface="Verdana"/>
              </a:rPr>
              <a:t>pertise </a:t>
            </a:r>
            <a:r>
              <a:rPr sz="1700" spc="-105" dirty="0">
                <a:latin typeface="Verdana"/>
                <a:cs typeface="Verdana"/>
              </a:rPr>
              <a:t>or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technical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barriers.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6576" y="5995656"/>
            <a:ext cx="2785110" cy="3568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b="1" spc="-100" dirty="0">
                <a:latin typeface="Arial"/>
                <a:cs typeface="Arial"/>
              </a:rPr>
              <a:t>E</a:t>
            </a:r>
            <a:r>
              <a:rPr sz="1700" b="1" spc="-100" dirty="0">
                <a:latin typeface="Verdana"/>
                <a:cs typeface="Verdana"/>
              </a:rPr>
              <a:t>nd</a:t>
            </a:r>
            <a:r>
              <a:rPr sz="1700" b="1" spc="-100" dirty="0">
                <a:latin typeface="Arial"/>
                <a:cs typeface="Arial"/>
              </a:rPr>
              <a:t>-</a:t>
            </a:r>
            <a:r>
              <a:rPr sz="1700" b="1" spc="-90" dirty="0">
                <a:latin typeface="Verdana"/>
                <a:cs typeface="Verdana"/>
              </a:rPr>
              <a:t>to</a:t>
            </a:r>
            <a:r>
              <a:rPr sz="1700" b="1" spc="-90" dirty="0">
                <a:latin typeface="Arial"/>
                <a:cs typeface="Arial"/>
              </a:rPr>
              <a:t>-</a:t>
            </a:r>
            <a:r>
              <a:rPr sz="1700" b="1" spc="-130" dirty="0">
                <a:latin typeface="Arial"/>
                <a:cs typeface="Arial"/>
              </a:rPr>
              <a:t>E</a:t>
            </a:r>
            <a:r>
              <a:rPr sz="1700" b="1" spc="-130" dirty="0">
                <a:latin typeface="Verdana"/>
                <a:cs typeface="Verdana"/>
              </a:rPr>
              <a:t>nd </a:t>
            </a:r>
            <a:r>
              <a:rPr sz="1700" b="1" spc="-30" dirty="0">
                <a:latin typeface="Verdana"/>
                <a:cs typeface="Verdana"/>
              </a:rPr>
              <a:t>Solution </a:t>
            </a:r>
            <a:r>
              <a:rPr sz="1700" b="1" spc="-160" dirty="0">
                <a:latin typeface="Verdana"/>
                <a:cs typeface="Verdana"/>
              </a:rPr>
              <a:t>Supports</a:t>
            </a:r>
            <a:r>
              <a:rPr sz="1700" b="1" spc="-145" dirty="0">
                <a:latin typeface="Verdana"/>
                <a:cs typeface="Verdana"/>
              </a:rPr>
              <a:t> </a:t>
            </a:r>
            <a:r>
              <a:rPr sz="1700" b="1" spc="-165" dirty="0">
                <a:latin typeface="Verdana"/>
                <a:cs typeface="Verdana"/>
              </a:rPr>
              <a:t>data</a:t>
            </a:r>
            <a:r>
              <a:rPr sz="1700" b="1" spc="-145" dirty="0">
                <a:latin typeface="Verdana"/>
                <a:cs typeface="Verdana"/>
              </a:rPr>
              <a:t> </a:t>
            </a:r>
            <a:r>
              <a:rPr sz="1700" b="1" spc="-165" dirty="0">
                <a:latin typeface="Verdana"/>
                <a:cs typeface="Verdana"/>
              </a:rPr>
              <a:t>preparation, </a:t>
            </a:r>
            <a:r>
              <a:rPr sz="1700" b="1" spc="-185" dirty="0">
                <a:latin typeface="Verdana"/>
                <a:cs typeface="Verdana"/>
              </a:rPr>
              <a:t>modeling,</a:t>
            </a:r>
            <a:r>
              <a:rPr sz="1700" b="1" spc="-135" dirty="0">
                <a:latin typeface="Verdana"/>
                <a:cs typeface="Verdana"/>
              </a:rPr>
              <a:t> </a:t>
            </a:r>
            <a:r>
              <a:rPr sz="1700" b="1" spc="-180" dirty="0">
                <a:latin typeface="Verdana"/>
                <a:cs typeface="Verdana"/>
              </a:rPr>
              <a:t>evaluation,</a:t>
            </a:r>
            <a:r>
              <a:rPr sz="1700" b="1" spc="-130" dirty="0">
                <a:latin typeface="Verdana"/>
                <a:cs typeface="Verdana"/>
              </a:rPr>
              <a:t> </a:t>
            </a:r>
            <a:r>
              <a:rPr sz="1700" b="1" spc="-25" dirty="0">
                <a:latin typeface="Verdana"/>
                <a:cs typeface="Verdana"/>
              </a:rPr>
              <a:t>and </a:t>
            </a:r>
            <a:r>
              <a:rPr sz="1700" b="1" spc="-155" dirty="0">
                <a:latin typeface="Verdana"/>
                <a:cs typeface="Verdana"/>
              </a:rPr>
              <a:t>deplo</a:t>
            </a:r>
            <a:r>
              <a:rPr sz="1700" spc="-155" dirty="0">
                <a:latin typeface="Arial MT"/>
                <a:cs typeface="Arial MT"/>
              </a:rPr>
              <a:t>y</a:t>
            </a:r>
            <a:r>
              <a:rPr sz="1700" b="1" spc="-155" dirty="0">
                <a:latin typeface="Verdana"/>
                <a:cs typeface="Verdana"/>
              </a:rPr>
              <a:t>ment </a:t>
            </a:r>
            <a:r>
              <a:rPr sz="1700" b="1" spc="-185" dirty="0">
                <a:latin typeface="Verdana"/>
                <a:cs typeface="Verdana"/>
              </a:rPr>
              <a:t>in</a:t>
            </a:r>
            <a:r>
              <a:rPr sz="1700" b="1" spc="-150" dirty="0">
                <a:latin typeface="Verdana"/>
                <a:cs typeface="Verdana"/>
              </a:rPr>
              <a:t> </a:t>
            </a:r>
            <a:r>
              <a:rPr sz="1700" b="1" spc="-25" dirty="0">
                <a:latin typeface="Verdana"/>
                <a:cs typeface="Verdana"/>
              </a:rPr>
              <a:t>one </a:t>
            </a:r>
            <a:r>
              <a:rPr sz="1700" b="1" spc="-155" dirty="0">
                <a:latin typeface="Verdana"/>
                <a:cs typeface="Verdana"/>
              </a:rPr>
              <a:t>integrated</a:t>
            </a:r>
            <a:r>
              <a:rPr sz="1700" b="1" spc="-140" dirty="0">
                <a:latin typeface="Verdana"/>
                <a:cs typeface="Verdana"/>
              </a:rPr>
              <a:t> </a:t>
            </a:r>
            <a:r>
              <a:rPr sz="1700" spc="-10" dirty="0">
                <a:latin typeface="Arial MT"/>
                <a:cs typeface="Arial MT"/>
              </a:rPr>
              <a:t>w</a:t>
            </a:r>
            <a:r>
              <a:rPr sz="1700" b="1" spc="-10" dirty="0">
                <a:latin typeface="Verdana"/>
                <a:cs typeface="Verdana"/>
              </a:rPr>
              <a:t>or</a:t>
            </a:r>
            <a:r>
              <a:rPr sz="1700" spc="-10" dirty="0">
                <a:latin typeface="Arial MT"/>
                <a:cs typeface="Arial MT"/>
              </a:rPr>
              <a:t>k</a:t>
            </a:r>
            <a:r>
              <a:rPr sz="1700" b="1" spc="-10" dirty="0">
                <a:latin typeface="Verdana"/>
                <a:cs typeface="Verdana"/>
              </a:rPr>
              <a:t>flo</a:t>
            </a:r>
            <a:r>
              <a:rPr sz="1700" spc="-10" dirty="0">
                <a:latin typeface="Arial MT"/>
                <a:cs typeface="Arial MT"/>
              </a:rPr>
              <a:t>w</a:t>
            </a:r>
            <a:r>
              <a:rPr sz="1700" b="1" spc="-10" dirty="0"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  <a:p>
            <a:pPr marL="12700" marR="302260">
              <a:lnSpc>
                <a:spcPct val="113999"/>
              </a:lnSpc>
            </a:pPr>
            <a:r>
              <a:rPr sz="1700" b="1" spc="-135" dirty="0">
                <a:latin typeface="Arial"/>
                <a:cs typeface="Arial"/>
              </a:rPr>
              <a:t>A</a:t>
            </a:r>
            <a:r>
              <a:rPr sz="1700" b="1" spc="-135" dirty="0">
                <a:latin typeface="Verdana"/>
                <a:cs typeface="Verdana"/>
              </a:rPr>
              <a:t>dvanced</a:t>
            </a:r>
            <a:r>
              <a:rPr sz="1700" b="1" spc="-155" dirty="0">
                <a:latin typeface="Verdana"/>
                <a:cs typeface="Verdana"/>
              </a:rPr>
              <a:t> </a:t>
            </a:r>
            <a:r>
              <a:rPr sz="1700" b="1" spc="-55" dirty="0">
                <a:latin typeface="Arial"/>
                <a:cs typeface="Arial"/>
              </a:rPr>
              <a:t>A</a:t>
            </a:r>
            <a:r>
              <a:rPr sz="1700" b="1" spc="-55" dirty="0">
                <a:latin typeface="Verdana"/>
                <a:cs typeface="Verdana"/>
              </a:rPr>
              <a:t>lgorithms </a:t>
            </a:r>
            <a:r>
              <a:rPr sz="1700" spc="-135" dirty="0">
                <a:latin typeface="Arial MT"/>
                <a:cs typeface="Arial MT"/>
              </a:rPr>
              <a:t>I</a:t>
            </a:r>
            <a:r>
              <a:rPr sz="1700" b="1" spc="-135" dirty="0">
                <a:latin typeface="Verdana"/>
                <a:cs typeface="Verdana"/>
              </a:rPr>
              <a:t>ntegrates</a:t>
            </a:r>
            <a:r>
              <a:rPr sz="1700" b="1" spc="-145" dirty="0">
                <a:latin typeface="Verdana"/>
                <a:cs typeface="Verdana"/>
              </a:rPr>
              <a:t> </a:t>
            </a:r>
            <a:r>
              <a:rPr sz="1700" b="1" spc="-10" dirty="0">
                <a:latin typeface="Verdana"/>
                <a:cs typeface="Verdana"/>
              </a:rPr>
              <a:t>po</a:t>
            </a:r>
            <a:r>
              <a:rPr sz="1700" spc="-10" dirty="0">
                <a:latin typeface="Arial MT"/>
                <a:cs typeface="Arial MT"/>
              </a:rPr>
              <a:t>w</a:t>
            </a:r>
            <a:r>
              <a:rPr sz="1700" b="1" spc="-10" dirty="0">
                <a:latin typeface="Verdana"/>
                <a:cs typeface="Verdana"/>
              </a:rPr>
              <a:t>erful </a:t>
            </a:r>
            <a:r>
              <a:rPr sz="1700" b="1" spc="-170" dirty="0">
                <a:latin typeface="Verdana"/>
                <a:cs typeface="Verdana"/>
              </a:rPr>
              <a:t>algorithms</a:t>
            </a:r>
            <a:r>
              <a:rPr sz="1700" b="1" spc="-145" dirty="0">
                <a:latin typeface="Verdana"/>
                <a:cs typeface="Verdana"/>
              </a:rPr>
              <a:t> </a:t>
            </a:r>
            <a:r>
              <a:rPr sz="1700" b="1" spc="-50" dirty="0">
                <a:latin typeface="Verdana"/>
                <a:cs typeface="Verdana"/>
              </a:rPr>
              <a:t>including </a:t>
            </a:r>
            <a:r>
              <a:rPr sz="1700" b="1" spc="-145" dirty="0">
                <a:latin typeface="Verdana"/>
                <a:cs typeface="Verdana"/>
              </a:rPr>
              <a:t>decision</a:t>
            </a:r>
            <a:r>
              <a:rPr sz="1700" b="1" spc="-140" dirty="0">
                <a:latin typeface="Verdana"/>
                <a:cs typeface="Verdana"/>
              </a:rPr>
              <a:t> </a:t>
            </a:r>
            <a:r>
              <a:rPr sz="1700" b="1" spc="-155" dirty="0">
                <a:latin typeface="Verdana"/>
                <a:cs typeface="Verdana"/>
              </a:rPr>
              <a:t>trees,</a:t>
            </a:r>
            <a:r>
              <a:rPr sz="1700" b="1" spc="-140" dirty="0">
                <a:latin typeface="Verdana"/>
                <a:cs typeface="Verdana"/>
              </a:rPr>
              <a:t> </a:t>
            </a:r>
            <a:r>
              <a:rPr sz="1700" b="1" spc="-10" dirty="0">
                <a:latin typeface="Verdana"/>
                <a:cs typeface="Verdana"/>
              </a:rPr>
              <a:t>logistic </a:t>
            </a:r>
            <a:r>
              <a:rPr sz="1700" b="1" spc="-175" dirty="0">
                <a:latin typeface="Verdana"/>
                <a:cs typeface="Verdana"/>
              </a:rPr>
              <a:t>regression,</a:t>
            </a:r>
            <a:r>
              <a:rPr sz="1700" b="1" spc="-95" dirty="0">
                <a:latin typeface="Verdana"/>
                <a:cs typeface="Verdana"/>
              </a:rPr>
              <a:t> </a:t>
            </a:r>
            <a:r>
              <a:rPr sz="1700" b="1" spc="-10" dirty="0">
                <a:latin typeface="Verdana"/>
                <a:cs typeface="Verdana"/>
              </a:rPr>
              <a:t>neural </a:t>
            </a:r>
            <a:r>
              <a:rPr sz="1700" b="1" spc="-135" dirty="0">
                <a:latin typeface="Verdana"/>
                <a:cs typeface="Verdana"/>
              </a:rPr>
              <a:t>net</a:t>
            </a:r>
            <a:r>
              <a:rPr sz="1700" spc="-135" dirty="0">
                <a:latin typeface="Arial MT"/>
                <a:cs typeface="Arial MT"/>
              </a:rPr>
              <a:t>w</a:t>
            </a:r>
            <a:r>
              <a:rPr sz="1700" b="1" spc="-135" dirty="0">
                <a:latin typeface="Verdana"/>
                <a:cs typeface="Verdana"/>
              </a:rPr>
              <a:t>or</a:t>
            </a:r>
            <a:r>
              <a:rPr sz="1700" spc="-135" dirty="0">
                <a:latin typeface="Arial MT"/>
                <a:cs typeface="Arial MT"/>
              </a:rPr>
              <a:t>k</a:t>
            </a:r>
            <a:r>
              <a:rPr sz="1700" b="1" spc="-135" dirty="0">
                <a:latin typeface="Verdana"/>
                <a:cs typeface="Verdana"/>
              </a:rPr>
              <a:t>s,</a:t>
            </a:r>
            <a:r>
              <a:rPr sz="1700" b="1" spc="-150" dirty="0">
                <a:latin typeface="Verdana"/>
                <a:cs typeface="Verdana"/>
              </a:rPr>
              <a:t> </a:t>
            </a:r>
            <a:r>
              <a:rPr sz="1700" b="1" spc="-195" dirty="0">
                <a:latin typeface="Verdana"/>
                <a:cs typeface="Verdana"/>
              </a:rPr>
              <a:t>and</a:t>
            </a:r>
            <a:r>
              <a:rPr sz="1700" b="1" spc="-150" dirty="0">
                <a:latin typeface="Verdana"/>
                <a:cs typeface="Verdana"/>
              </a:rPr>
              <a:t> </a:t>
            </a:r>
            <a:r>
              <a:rPr sz="1700" b="1" spc="-160" dirty="0">
                <a:latin typeface="Verdana"/>
                <a:cs typeface="Verdana"/>
              </a:rPr>
              <a:t>ensemble </a:t>
            </a:r>
            <a:r>
              <a:rPr sz="1700" b="1" spc="-60" dirty="0">
                <a:latin typeface="Verdana"/>
                <a:cs typeface="Verdana"/>
              </a:rPr>
              <a:t>methods.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348" y="3507892"/>
            <a:ext cx="6730892" cy="575166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081046" y="4422253"/>
            <a:ext cx="728345" cy="561340"/>
          </a:xfrm>
          <a:custGeom>
            <a:avLst/>
            <a:gdLst/>
            <a:ahLst/>
            <a:cxnLst/>
            <a:rect l="l" t="t" r="r" b="b"/>
            <a:pathLst>
              <a:path w="728345" h="561339">
                <a:moveTo>
                  <a:pt x="728065" y="304800"/>
                </a:moveTo>
                <a:lnTo>
                  <a:pt x="223088" y="304800"/>
                </a:lnTo>
                <a:lnTo>
                  <a:pt x="223088" y="0"/>
                </a:lnTo>
                <a:lnTo>
                  <a:pt x="0" y="0"/>
                </a:lnTo>
                <a:lnTo>
                  <a:pt x="0" y="304800"/>
                </a:lnTo>
                <a:lnTo>
                  <a:pt x="0" y="561340"/>
                </a:lnTo>
                <a:lnTo>
                  <a:pt x="728065" y="561340"/>
                </a:lnTo>
                <a:lnTo>
                  <a:pt x="728065" y="304800"/>
                </a:lnTo>
                <a:close/>
              </a:path>
            </a:pathLst>
          </a:custGeom>
          <a:solidFill>
            <a:srgbClr val="3778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66214" y="1037967"/>
            <a:ext cx="890269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100" spc="-185" dirty="0">
                <a:latin typeface="Verdana"/>
                <a:cs typeface="Verdana"/>
              </a:rPr>
              <a:t>Borcelle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823055" y="1028483"/>
            <a:ext cx="436245" cy="339090"/>
          </a:xfrm>
          <a:custGeom>
            <a:avLst/>
            <a:gdLst/>
            <a:ahLst/>
            <a:cxnLst/>
            <a:rect l="l" t="t" r="r" b="b"/>
            <a:pathLst>
              <a:path w="436244" h="339090">
                <a:moveTo>
                  <a:pt x="435800" y="0"/>
                </a:moveTo>
                <a:lnTo>
                  <a:pt x="0" y="0"/>
                </a:lnTo>
                <a:lnTo>
                  <a:pt x="0" y="156210"/>
                </a:lnTo>
                <a:lnTo>
                  <a:pt x="302272" y="156210"/>
                </a:lnTo>
                <a:lnTo>
                  <a:pt x="302272" y="339090"/>
                </a:lnTo>
                <a:lnTo>
                  <a:pt x="435800" y="339090"/>
                </a:lnTo>
                <a:lnTo>
                  <a:pt x="435800" y="156210"/>
                </a:lnTo>
                <a:lnTo>
                  <a:pt x="435800" y="0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7536" y="897991"/>
            <a:ext cx="2223770" cy="748665"/>
          </a:xfrm>
          <a:custGeom>
            <a:avLst/>
            <a:gdLst/>
            <a:ahLst/>
            <a:cxnLst/>
            <a:rect l="l" t="t" r="r" b="b"/>
            <a:pathLst>
              <a:path w="2223770" h="748664">
                <a:moveTo>
                  <a:pt x="2223681" y="0"/>
                </a:moveTo>
                <a:lnTo>
                  <a:pt x="0" y="0"/>
                </a:lnTo>
                <a:lnTo>
                  <a:pt x="0" y="748322"/>
                </a:lnTo>
                <a:lnTo>
                  <a:pt x="2223681" y="748322"/>
                </a:lnTo>
                <a:lnTo>
                  <a:pt x="22236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58191" y="1667255"/>
            <a:ext cx="10160000" cy="2338070"/>
          </a:xfrm>
          <a:prstGeom prst="rect">
            <a:avLst/>
          </a:prstGeom>
        </p:spPr>
        <p:txBody>
          <a:bodyPr vert="horz" wrap="square" lIns="0" tIns="382905" rIns="0" bIns="0" rtlCol="0">
            <a:spAutoFit/>
          </a:bodyPr>
          <a:lstStyle/>
          <a:p>
            <a:pPr marL="12700" marR="5080">
              <a:lnSpc>
                <a:spcPct val="72400"/>
              </a:lnSpc>
              <a:spcBef>
                <a:spcPts val="3015"/>
              </a:spcBef>
            </a:pPr>
            <a:r>
              <a:rPr sz="8800" spc="-550" dirty="0">
                <a:latin typeface="Verdana"/>
                <a:cs typeface="Verdana"/>
              </a:rPr>
              <a:t>Data</a:t>
            </a:r>
            <a:r>
              <a:rPr sz="8800" spc="-550" dirty="0">
                <a:latin typeface="Arial MT"/>
                <a:cs typeface="Arial MT"/>
              </a:rPr>
              <a:t>:</a:t>
            </a:r>
            <a:r>
              <a:rPr sz="8800" spc="-509" dirty="0">
                <a:latin typeface="Arial MT"/>
                <a:cs typeface="Arial MT"/>
              </a:rPr>
              <a:t> </a:t>
            </a:r>
            <a:r>
              <a:rPr sz="8800" spc="-680" dirty="0">
                <a:latin typeface="Verdana"/>
                <a:cs typeface="Verdana"/>
              </a:rPr>
              <a:t>Key</a:t>
            </a:r>
            <a:r>
              <a:rPr sz="8800" spc="-1145" dirty="0">
                <a:latin typeface="Verdana"/>
                <a:cs typeface="Verdana"/>
              </a:rPr>
              <a:t> </a:t>
            </a:r>
            <a:r>
              <a:rPr sz="8800" spc="-475" dirty="0">
                <a:latin typeface="Verdana"/>
                <a:cs typeface="Verdana"/>
              </a:rPr>
              <a:t>Features </a:t>
            </a:r>
            <a:r>
              <a:rPr sz="8800" spc="-409" dirty="0">
                <a:latin typeface="Verdana"/>
                <a:cs typeface="Verdana"/>
              </a:rPr>
              <a:t>for</a:t>
            </a:r>
            <a:r>
              <a:rPr sz="8800" spc="-1150" dirty="0">
                <a:latin typeface="Verdana"/>
                <a:cs typeface="Verdana"/>
              </a:rPr>
              <a:t> </a:t>
            </a:r>
            <a:r>
              <a:rPr sz="8800" spc="-555" dirty="0">
                <a:latin typeface="Arial MT"/>
                <a:cs typeface="Arial MT"/>
              </a:rPr>
              <a:t>C</a:t>
            </a:r>
            <a:r>
              <a:rPr sz="8800" spc="-555" dirty="0">
                <a:latin typeface="Verdana"/>
                <a:cs typeface="Verdana"/>
              </a:rPr>
              <a:t>hurn</a:t>
            </a:r>
            <a:r>
              <a:rPr sz="8800" spc="-1145" dirty="0">
                <a:latin typeface="Verdana"/>
                <a:cs typeface="Verdana"/>
              </a:rPr>
              <a:t> </a:t>
            </a:r>
            <a:r>
              <a:rPr sz="8800" spc="-400" dirty="0">
                <a:latin typeface="Arial MT"/>
                <a:cs typeface="Arial MT"/>
              </a:rPr>
              <a:t>P</a:t>
            </a:r>
            <a:r>
              <a:rPr sz="8800" spc="-400" dirty="0">
                <a:latin typeface="Verdana"/>
                <a:cs typeface="Verdana"/>
              </a:rPr>
              <a:t>rediction</a:t>
            </a:r>
            <a:endParaRPr sz="8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58191" y="695705"/>
            <a:ext cx="932624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495" dirty="0">
                <a:latin typeface="Arial MT"/>
                <a:cs typeface="Arial MT"/>
              </a:rPr>
              <a:t>U</a:t>
            </a:r>
            <a:r>
              <a:rPr sz="8800" spc="-495" dirty="0"/>
              <a:t>nderstanding</a:t>
            </a:r>
            <a:r>
              <a:rPr sz="8800" spc="-1105" dirty="0"/>
              <a:t> </a:t>
            </a:r>
            <a:r>
              <a:rPr sz="8800" spc="-470" dirty="0"/>
              <a:t>the</a:t>
            </a:r>
            <a:endParaRPr sz="8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51531" y="5315381"/>
            <a:ext cx="8325484" cy="55435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4099"/>
              </a:lnSpc>
              <a:spcBef>
                <a:spcPts val="15"/>
              </a:spcBef>
            </a:pPr>
            <a:r>
              <a:rPr sz="1700" b="1" dirty="0">
                <a:latin typeface="Arial"/>
                <a:cs typeface="Arial"/>
              </a:rPr>
              <a:t>A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170" dirty="0">
                <a:latin typeface="Verdana"/>
                <a:cs typeface="Verdana"/>
              </a:rPr>
              <a:t>comprehensive</a:t>
            </a:r>
            <a:r>
              <a:rPr sz="1700" b="1" spc="-150" dirty="0">
                <a:latin typeface="Verdana"/>
                <a:cs typeface="Verdana"/>
              </a:rPr>
              <a:t> </a:t>
            </a:r>
            <a:r>
              <a:rPr sz="1700" b="1" spc="-145" dirty="0">
                <a:latin typeface="Verdana"/>
                <a:cs typeface="Verdana"/>
              </a:rPr>
              <a:t>dataset </a:t>
            </a:r>
            <a:r>
              <a:rPr sz="1700" b="1" spc="-175" dirty="0">
                <a:latin typeface="Verdana"/>
                <a:cs typeface="Verdana"/>
              </a:rPr>
              <a:t>forms</a:t>
            </a:r>
            <a:r>
              <a:rPr sz="1700" b="1" spc="-150" dirty="0">
                <a:latin typeface="Verdana"/>
                <a:cs typeface="Verdana"/>
              </a:rPr>
              <a:t> </a:t>
            </a:r>
            <a:r>
              <a:rPr sz="1700" b="1" spc="-155" dirty="0">
                <a:latin typeface="Verdana"/>
                <a:cs typeface="Verdana"/>
              </a:rPr>
              <a:t>the</a:t>
            </a:r>
            <a:r>
              <a:rPr sz="1700" b="1" spc="-150" dirty="0">
                <a:latin typeface="Verdana"/>
                <a:cs typeface="Verdana"/>
              </a:rPr>
              <a:t> </a:t>
            </a:r>
            <a:r>
              <a:rPr sz="1700" b="1" spc="-165" dirty="0">
                <a:latin typeface="Verdana"/>
                <a:cs typeface="Verdana"/>
              </a:rPr>
              <a:t>foundation</a:t>
            </a:r>
            <a:r>
              <a:rPr sz="1700" b="1" spc="-150" dirty="0">
                <a:latin typeface="Verdana"/>
                <a:cs typeface="Verdana"/>
              </a:rPr>
              <a:t> </a:t>
            </a:r>
            <a:r>
              <a:rPr sz="1700" b="1" spc="-120" dirty="0">
                <a:latin typeface="Verdana"/>
                <a:cs typeface="Verdana"/>
              </a:rPr>
              <a:t>of</a:t>
            </a:r>
            <a:r>
              <a:rPr sz="1700" b="1" spc="-145" dirty="0">
                <a:latin typeface="Verdana"/>
                <a:cs typeface="Verdana"/>
              </a:rPr>
              <a:t> accurate</a:t>
            </a:r>
            <a:r>
              <a:rPr sz="1700" b="1" spc="-150" dirty="0">
                <a:latin typeface="Verdana"/>
                <a:cs typeface="Verdana"/>
              </a:rPr>
              <a:t> </a:t>
            </a:r>
            <a:r>
              <a:rPr sz="1700" b="1" spc="-175" dirty="0">
                <a:latin typeface="Verdana"/>
                <a:cs typeface="Verdana"/>
              </a:rPr>
              <a:t>churn</a:t>
            </a:r>
            <a:r>
              <a:rPr sz="1700" b="1" spc="-145" dirty="0">
                <a:latin typeface="Verdana"/>
                <a:cs typeface="Verdana"/>
              </a:rPr>
              <a:t> </a:t>
            </a:r>
            <a:r>
              <a:rPr sz="1700" b="1" spc="-155" dirty="0">
                <a:latin typeface="Verdana"/>
                <a:cs typeface="Verdana"/>
              </a:rPr>
              <a:t>prediction.</a:t>
            </a:r>
            <a:r>
              <a:rPr sz="1700" b="1" spc="-145" dirty="0">
                <a:latin typeface="Verdana"/>
                <a:cs typeface="Verdana"/>
              </a:rPr>
              <a:t> </a:t>
            </a:r>
            <a:r>
              <a:rPr sz="1700" b="1" spc="-25" dirty="0">
                <a:latin typeface="Arial"/>
                <a:cs typeface="Arial"/>
              </a:rPr>
              <a:t>O</a:t>
            </a:r>
            <a:r>
              <a:rPr sz="1700" b="1" spc="-25" dirty="0">
                <a:latin typeface="Verdana"/>
                <a:cs typeface="Verdana"/>
              </a:rPr>
              <a:t>ur </a:t>
            </a:r>
            <a:r>
              <a:rPr sz="1700" b="1" spc="-200" dirty="0">
                <a:latin typeface="Verdana"/>
                <a:cs typeface="Verdana"/>
              </a:rPr>
              <a:t>example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60" dirty="0">
                <a:latin typeface="Verdana"/>
                <a:cs typeface="Verdana"/>
              </a:rPr>
              <a:t>uses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50" dirty="0">
                <a:latin typeface="Arial"/>
                <a:cs typeface="Arial"/>
              </a:rPr>
              <a:t>10</a:t>
            </a:r>
            <a:r>
              <a:rPr sz="1700" b="1" spc="-50" dirty="0">
                <a:latin typeface="Verdana"/>
                <a:cs typeface="Verdana"/>
              </a:rPr>
              <a:t>,</a:t>
            </a:r>
            <a:r>
              <a:rPr sz="1700" b="1" spc="-50" dirty="0">
                <a:latin typeface="Arial"/>
                <a:cs typeface="Arial"/>
              </a:rPr>
              <a:t>000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spc="-190" dirty="0">
                <a:latin typeface="Verdana"/>
                <a:cs typeface="Verdana"/>
              </a:rPr>
              <a:t>bank</a:t>
            </a:r>
            <a:r>
              <a:rPr sz="1700" b="1" spc="-160" dirty="0">
                <a:latin typeface="Verdana"/>
                <a:cs typeface="Verdana"/>
              </a:rPr>
              <a:t> customers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20" dirty="0">
                <a:latin typeface="Arial"/>
                <a:cs typeface="Arial"/>
              </a:rPr>
              <a:t>w</a:t>
            </a:r>
            <a:r>
              <a:rPr sz="1700" b="1" spc="-120" dirty="0">
                <a:latin typeface="Verdana"/>
                <a:cs typeface="Verdana"/>
              </a:rPr>
              <a:t>ith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dirty="0">
                <a:latin typeface="Arial"/>
                <a:cs typeface="Arial"/>
              </a:rPr>
              <a:t>14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spc="-120" dirty="0">
                <a:latin typeface="Verdana"/>
                <a:cs typeface="Verdana"/>
              </a:rPr>
              <a:t>critical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0" dirty="0">
                <a:latin typeface="Verdana"/>
                <a:cs typeface="Verdana"/>
              </a:rPr>
              <a:t>features</a:t>
            </a:r>
            <a:r>
              <a:rPr sz="1700" b="1" spc="-1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67762" y="6290931"/>
            <a:ext cx="3303270" cy="20923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700" spc="-105" dirty="0">
                <a:latin typeface="Verdana"/>
                <a:cs typeface="Verdana"/>
              </a:rPr>
              <a:t>Demographic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Data</a:t>
            </a:r>
            <a:endParaRPr sz="1700">
              <a:latin typeface="Verdana"/>
              <a:cs typeface="Verdana"/>
            </a:endParaRPr>
          </a:p>
          <a:p>
            <a:pPr marL="12700" marR="507365">
              <a:lnSpc>
                <a:spcPct val="113999"/>
              </a:lnSpc>
            </a:pPr>
            <a:r>
              <a:rPr sz="1700" spc="-80" dirty="0">
                <a:latin typeface="Arial MT"/>
                <a:cs typeface="Arial MT"/>
              </a:rPr>
              <a:t>C</a:t>
            </a:r>
            <a:r>
              <a:rPr sz="1700" spc="-80" dirty="0">
                <a:latin typeface="Verdana"/>
                <a:cs typeface="Verdana"/>
              </a:rPr>
              <a:t>redit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Score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Age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75" dirty="0">
                <a:latin typeface="Arial MT"/>
                <a:cs typeface="Arial MT"/>
              </a:rPr>
              <a:t>G</a:t>
            </a:r>
            <a:r>
              <a:rPr sz="1700" spc="-75" dirty="0">
                <a:latin typeface="Verdana"/>
                <a:cs typeface="Verdana"/>
              </a:rPr>
              <a:t>eograp</a:t>
            </a:r>
            <a:r>
              <a:rPr sz="1700" spc="-75" dirty="0">
                <a:latin typeface="Arial MT"/>
                <a:cs typeface="Arial MT"/>
              </a:rPr>
              <a:t>h</a:t>
            </a:r>
            <a:r>
              <a:rPr sz="1700" spc="-75" dirty="0">
                <a:latin typeface="Verdana"/>
                <a:cs typeface="Verdana"/>
              </a:rPr>
              <a:t>y </a:t>
            </a:r>
            <a:r>
              <a:rPr sz="1700" spc="-10" dirty="0">
                <a:latin typeface="Arial MT"/>
                <a:cs typeface="Arial MT"/>
              </a:rPr>
              <a:t>G</a:t>
            </a:r>
            <a:r>
              <a:rPr sz="1700" spc="-10" dirty="0">
                <a:latin typeface="Verdana"/>
                <a:cs typeface="Verdana"/>
              </a:rPr>
              <a:t>ender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700" spc="-100" dirty="0">
                <a:latin typeface="Verdana"/>
                <a:cs typeface="Verdana"/>
              </a:rPr>
              <a:t>Financial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0" dirty="0">
                <a:latin typeface="Arial MT"/>
                <a:cs typeface="Arial MT"/>
              </a:rPr>
              <a:t>P</a:t>
            </a:r>
            <a:r>
              <a:rPr sz="1700" spc="-10" dirty="0">
                <a:latin typeface="Verdana"/>
                <a:cs typeface="Verdana"/>
              </a:rPr>
              <a:t>rofile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13999"/>
              </a:lnSpc>
            </a:pPr>
            <a:r>
              <a:rPr sz="1700" spc="-75" dirty="0">
                <a:latin typeface="Verdana"/>
                <a:cs typeface="Verdana"/>
              </a:rPr>
              <a:t>Account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Balance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Estimated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Salary </a:t>
            </a:r>
            <a:r>
              <a:rPr sz="1700" spc="-110" dirty="0">
                <a:latin typeface="Arial MT"/>
                <a:cs typeface="Arial MT"/>
              </a:rPr>
              <a:t>N</a:t>
            </a:r>
            <a:r>
              <a:rPr sz="1700" spc="-110" dirty="0">
                <a:latin typeface="Verdana"/>
                <a:cs typeface="Verdana"/>
              </a:rPr>
              <a:t>umber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65" dirty="0">
                <a:latin typeface="Verdana"/>
                <a:cs typeface="Verdana"/>
              </a:rPr>
              <a:t>of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80" dirty="0">
                <a:latin typeface="Arial MT"/>
                <a:cs typeface="Arial MT"/>
              </a:rPr>
              <a:t>P</a:t>
            </a:r>
            <a:r>
              <a:rPr sz="1700" spc="-80" dirty="0">
                <a:latin typeface="Verdana"/>
                <a:cs typeface="Verdana"/>
              </a:rPr>
              <a:t>roducts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80" dirty="0">
                <a:latin typeface="Arial MT"/>
                <a:cs typeface="Arial MT"/>
              </a:rPr>
              <a:t>C</a:t>
            </a:r>
            <a:r>
              <a:rPr sz="1700" spc="-80" dirty="0">
                <a:latin typeface="Verdana"/>
                <a:cs typeface="Verdana"/>
              </a:rPr>
              <a:t>redit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20" dirty="0">
                <a:latin typeface="Arial MT"/>
                <a:cs typeface="Arial MT"/>
              </a:rPr>
              <a:t>C</a:t>
            </a:r>
            <a:r>
              <a:rPr sz="1700" spc="-20" dirty="0">
                <a:latin typeface="Verdana"/>
                <a:cs typeface="Verdana"/>
              </a:rPr>
              <a:t>ard </a:t>
            </a:r>
            <a:r>
              <a:rPr sz="1700" spc="-10" dirty="0">
                <a:latin typeface="Arial MT"/>
                <a:cs typeface="Arial MT"/>
              </a:rPr>
              <a:t>Ow</a:t>
            </a:r>
            <a:r>
              <a:rPr sz="1700" spc="-10" dirty="0">
                <a:latin typeface="Verdana"/>
                <a:cs typeface="Verdana"/>
              </a:rPr>
              <a:t>ners</a:t>
            </a:r>
            <a:r>
              <a:rPr sz="1700" spc="-10" dirty="0">
                <a:latin typeface="Arial MT"/>
                <a:cs typeface="Arial MT"/>
              </a:rPr>
              <a:t>h</a:t>
            </a:r>
            <a:r>
              <a:rPr sz="1700" spc="-10" dirty="0">
                <a:latin typeface="Verdana"/>
                <a:cs typeface="Verdana"/>
              </a:rPr>
              <a:t>ip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61338" y="6290931"/>
            <a:ext cx="302958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91869">
              <a:lnSpc>
                <a:spcPct val="113999"/>
              </a:lnSpc>
              <a:spcBef>
                <a:spcPts val="100"/>
              </a:spcBef>
            </a:pPr>
            <a:r>
              <a:rPr sz="1700" spc="-114" dirty="0">
                <a:latin typeface="Verdana"/>
                <a:cs typeface="Verdana"/>
              </a:rPr>
              <a:t>Behavioral</a:t>
            </a:r>
            <a:r>
              <a:rPr sz="1700" spc="-145" dirty="0">
                <a:latin typeface="Verdana"/>
                <a:cs typeface="Verdana"/>
              </a:rPr>
              <a:t> </a:t>
            </a:r>
            <a:r>
              <a:rPr sz="1700" spc="-85" dirty="0">
                <a:latin typeface="Arial MT"/>
                <a:cs typeface="Arial MT"/>
              </a:rPr>
              <a:t>I</a:t>
            </a:r>
            <a:r>
              <a:rPr sz="1700" spc="-85" dirty="0">
                <a:latin typeface="Verdana"/>
                <a:cs typeface="Verdana"/>
              </a:rPr>
              <a:t>ndicators </a:t>
            </a:r>
            <a:r>
              <a:rPr sz="1700" spc="-95" dirty="0">
                <a:latin typeface="Verdana"/>
                <a:cs typeface="Verdana"/>
              </a:rPr>
              <a:t>Activity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Status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13999"/>
              </a:lnSpc>
            </a:pPr>
            <a:r>
              <a:rPr sz="1700" spc="-100" dirty="0">
                <a:latin typeface="Arial MT"/>
                <a:cs typeface="Arial MT"/>
              </a:rPr>
              <a:t>T</a:t>
            </a:r>
            <a:r>
              <a:rPr sz="1700" spc="-100" dirty="0">
                <a:latin typeface="Verdana"/>
                <a:cs typeface="Verdana"/>
              </a:rPr>
              <a:t>enure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00" dirty="0">
                <a:latin typeface="Arial MT"/>
                <a:cs typeface="Arial MT"/>
              </a:rPr>
              <a:t>(</a:t>
            </a:r>
            <a:r>
              <a:rPr sz="1700" spc="-100" dirty="0">
                <a:latin typeface="Verdana"/>
                <a:cs typeface="Verdana"/>
              </a:rPr>
              <a:t>years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50" dirty="0">
                <a:latin typeface="Arial MT"/>
                <a:cs typeface="Arial MT"/>
              </a:rPr>
              <a:t>w</a:t>
            </a:r>
            <a:r>
              <a:rPr sz="1700" spc="-50" dirty="0">
                <a:latin typeface="Verdana"/>
                <a:cs typeface="Verdana"/>
              </a:rPr>
              <a:t>it</a:t>
            </a:r>
            <a:r>
              <a:rPr sz="1700" spc="-50" dirty="0">
                <a:latin typeface="Arial MT"/>
                <a:cs typeface="Arial MT"/>
              </a:rPr>
              <a:t>h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5" dirty="0">
                <a:latin typeface="Verdana"/>
                <a:cs typeface="Verdana"/>
              </a:rPr>
              <a:t>bank</a:t>
            </a:r>
            <a:r>
              <a:rPr sz="1700" spc="-105" dirty="0">
                <a:latin typeface="Arial MT"/>
                <a:cs typeface="Arial MT"/>
              </a:rPr>
              <a:t>)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75" dirty="0">
                <a:latin typeface="Arial MT"/>
                <a:cs typeface="Arial MT"/>
              </a:rPr>
              <a:t>Ch</a:t>
            </a:r>
            <a:r>
              <a:rPr sz="1700" spc="-75" dirty="0">
                <a:latin typeface="Verdana"/>
                <a:cs typeface="Verdana"/>
              </a:rPr>
              <a:t>urn </a:t>
            </a:r>
            <a:r>
              <a:rPr sz="1700" spc="-90" dirty="0">
                <a:latin typeface="Verdana"/>
                <a:cs typeface="Verdana"/>
              </a:rPr>
              <a:t>Label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10" dirty="0">
                <a:latin typeface="Arial MT"/>
                <a:cs typeface="Arial MT"/>
              </a:rPr>
              <a:t>(Y</a:t>
            </a:r>
            <a:r>
              <a:rPr sz="1700" spc="-10" dirty="0">
                <a:latin typeface="Verdana"/>
                <a:cs typeface="Verdana"/>
              </a:rPr>
              <a:t>es</a:t>
            </a:r>
            <a:r>
              <a:rPr sz="1700" spc="-10" dirty="0">
                <a:latin typeface="Arial MT"/>
                <a:cs typeface="Arial MT"/>
              </a:rPr>
              <a:t>/N</a:t>
            </a:r>
            <a:r>
              <a:rPr sz="1700" spc="-10" dirty="0">
                <a:latin typeface="Verdana"/>
                <a:cs typeface="Verdana"/>
              </a:rPr>
              <a:t>o</a:t>
            </a:r>
            <a:r>
              <a:rPr sz="1700" spc="-10" dirty="0">
                <a:latin typeface="Arial MT"/>
                <a:cs typeface="Arial MT"/>
              </a:rPr>
              <a:t>)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4645" y="1958948"/>
            <a:ext cx="7432820" cy="46101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797231" y="6253615"/>
            <a:ext cx="147320" cy="219075"/>
          </a:xfrm>
          <a:custGeom>
            <a:avLst/>
            <a:gdLst/>
            <a:ahLst/>
            <a:cxnLst/>
            <a:rect l="l" t="t" r="r" b="b"/>
            <a:pathLst>
              <a:path w="147320" h="219075">
                <a:moveTo>
                  <a:pt x="146927" y="218628"/>
                </a:moveTo>
                <a:lnTo>
                  <a:pt x="0" y="218628"/>
                </a:lnTo>
                <a:lnTo>
                  <a:pt x="0" y="0"/>
                </a:lnTo>
                <a:lnTo>
                  <a:pt x="146927" y="0"/>
                </a:lnTo>
                <a:lnTo>
                  <a:pt x="146927" y="218628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91086" y="6253615"/>
            <a:ext cx="147320" cy="219075"/>
          </a:xfrm>
          <a:custGeom>
            <a:avLst/>
            <a:gdLst/>
            <a:ahLst/>
            <a:cxnLst/>
            <a:rect l="l" t="t" r="r" b="b"/>
            <a:pathLst>
              <a:path w="147320" h="219075">
                <a:moveTo>
                  <a:pt x="146927" y="218628"/>
                </a:moveTo>
                <a:lnTo>
                  <a:pt x="0" y="218628"/>
                </a:lnTo>
                <a:lnTo>
                  <a:pt x="0" y="0"/>
                </a:lnTo>
                <a:lnTo>
                  <a:pt x="146927" y="0"/>
                </a:lnTo>
                <a:lnTo>
                  <a:pt x="146927" y="218628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384941" y="6253615"/>
            <a:ext cx="147320" cy="219075"/>
          </a:xfrm>
          <a:custGeom>
            <a:avLst/>
            <a:gdLst/>
            <a:ahLst/>
            <a:cxnLst/>
            <a:rect l="l" t="t" r="r" b="b"/>
            <a:pathLst>
              <a:path w="147320" h="219075">
                <a:moveTo>
                  <a:pt x="146927" y="218628"/>
                </a:moveTo>
                <a:lnTo>
                  <a:pt x="0" y="218628"/>
                </a:lnTo>
                <a:lnTo>
                  <a:pt x="0" y="0"/>
                </a:lnTo>
                <a:lnTo>
                  <a:pt x="146927" y="0"/>
                </a:lnTo>
                <a:lnTo>
                  <a:pt x="146927" y="218628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44159" y="6472243"/>
            <a:ext cx="147320" cy="219075"/>
          </a:xfrm>
          <a:custGeom>
            <a:avLst/>
            <a:gdLst/>
            <a:ahLst/>
            <a:cxnLst/>
            <a:rect l="l" t="t" r="r" b="b"/>
            <a:pathLst>
              <a:path w="147320" h="219075">
                <a:moveTo>
                  <a:pt x="146927" y="218628"/>
                </a:moveTo>
                <a:lnTo>
                  <a:pt x="0" y="218628"/>
                </a:lnTo>
                <a:lnTo>
                  <a:pt x="0" y="0"/>
                </a:lnTo>
                <a:lnTo>
                  <a:pt x="146927" y="0"/>
                </a:lnTo>
                <a:lnTo>
                  <a:pt x="146927" y="218628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238014" y="6472243"/>
            <a:ext cx="147320" cy="219075"/>
          </a:xfrm>
          <a:custGeom>
            <a:avLst/>
            <a:gdLst/>
            <a:ahLst/>
            <a:cxnLst/>
            <a:rect l="l" t="t" r="r" b="b"/>
            <a:pathLst>
              <a:path w="147320" h="219075">
                <a:moveTo>
                  <a:pt x="146927" y="218628"/>
                </a:moveTo>
                <a:lnTo>
                  <a:pt x="0" y="218628"/>
                </a:lnTo>
                <a:lnTo>
                  <a:pt x="0" y="0"/>
                </a:lnTo>
                <a:lnTo>
                  <a:pt x="146927" y="0"/>
                </a:lnTo>
                <a:lnTo>
                  <a:pt x="146927" y="218628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66214" y="1037967"/>
            <a:ext cx="890269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100" spc="-185" dirty="0">
                <a:latin typeface="Verdana"/>
                <a:cs typeface="Verdana"/>
              </a:rPr>
              <a:t>Borcelle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7847" y="828141"/>
            <a:ext cx="2204085" cy="698500"/>
          </a:xfrm>
          <a:custGeom>
            <a:avLst/>
            <a:gdLst/>
            <a:ahLst/>
            <a:cxnLst/>
            <a:rect l="l" t="t" r="r" b="b"/>
            <a:pathLst>
              <a:path w="2204085" h="698500">
                <a:moveTo>
                  <a:pt x="2203729" y="0"/>
                </a:moveTo>
                <a:lnTo>
                  <a:pt x="0" y="0"/>
                </a:lnTo>
                <a:lnTo>
                  <a:pt x="0" y="698436"/>
                </a:lnTo>
                <a:lnTo>
                  <a:pt x="2203729" y="698436"/>
                </a:lnTo>
                <a:lnTo>
                  <a:pt x="22037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16000" y="7520964"/>
            <a:ext cx="2741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latin typeface="Cambria"/>
                <a:cs typeface="Cambria"/>
              </a:rPr>
              <a:t>Modeler</a:t>
            </a:r>
            <a:endParaRPr sz="6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000" y="7053312"/>
            <a:ext cx="81470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Cambria"/>
                <a:cs typeface="Cambria"/>
              </a:rPr>
              <a:t>Data</a:t>
            </a:r>
            <a:r>
              <a:rPr sz="6000" spc="-85" dirty="0">
                <a:latin typeface="Cambria"/>
                <a:cs typeface="Cambria"/>
              </a:rPr>
              <a:t> </a:t>
            </a:r>
            <a:r>
              <a:rPr sz="6000" dirty="0">
                <a:latin typeface="Cambria"/>
                <a:cs typeface="Cambria"/>
              </a:rPr>
              <a:t>Preparation</a:t>
            </a:r>
            <a:r>
              <a:rPr sz="6000" spc="-85" dirty="0">
                <a:latin typeface="Cambria"/>
                <a:cs typeface="Cambria"/>
              </a:rPr>
              <a:t> </a:t>
            </a:r>
            <a:r>
              <a:rPr sz="6000" dirty="0">
                <a:latin typeface="Cambria"/>
                <a:cs typeface="Cambria"/>
              </a:rPr>
              <a:t>in</a:t>
            </a:r>
            <a:r>
              <a:rPr sz="6000" spc="-85" dirty="0">
                <a:latin typeface="Cambria"/>
                <a:cs typeface="Cambria"/>
              </a:rPr>
              <a:t> </a:t>
            </a:r>
            <a:r>
              <a:rPr sz="6000" spc="-20" dirty="0">
                <a:latin typeface="Cambria"/>
                <a:cs typeface="Cambria"/>
              </a:rPr>
              <a:t>SPSS</a:t>
            </a:r>
            <a:endParaRPr sz="6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84203" y="6811454"/>
            <a:ext cx="4965700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Arial MT"/>
                <a:cs typeface="Arial MT"/>
              </a:rPr>
              <a:t>04.Visualize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&amp;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Balance</a:t>
            </a:r>
            <a:endParaRPr sz="1700">
              <a:latin typeface="Arial MT"/>
              <a:cs typeface="Arial MT"/>
            </a:endParaRPr>
          </a:p>
          <a:p>
            <a:pPr marL="12700" marR="5080">
              <a:lnSpc>
                <a:spcPct val="102800"/>
              </a:lnSpc>
            </a:pPr>
            <a:r>
              <a:rPr sz="1700" dirty="0">
                <a:latin typeface="Arial MT"/>
                <a:cs typeface="Arial MT"/>
              </a:rPr>
              <a:t>Examine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distributions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detect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class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imbalance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in </a:t>
            </a:r>
            <a:r>
              <a:rPr sz="1700" dirty="0">
                <a:latin typeface="Arial MT"/>
                <a:cs typeface="Arial MT"/>
              </a:rPr>
              <a:t>churn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labels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prevent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biased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model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outcomes.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84203" y="5184406"/>
            <a:ext cx="5182235" cy="111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Arial MT"/>
                <a:cs typeface="Arial MT"/>
              </a:rPr>
              <a:t>03.Handle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Missing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Data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700">
              <a:latin typeface="Arial MT"/>
              <a:cs typeface="Arial MT"/>
            </a:endParaRPr>
          </a:p>
          <a:p>
            <a:pPr marL="12700" marR="5080">
              <a:lnSpc>
                <a:spcPct val="102800"/>
              </a:lnSpc>
              <a:spcBef>
                <a:spcPts val="5"/>
              </a:spcBef>
            </a:pPr>
            <a:r>
              <a:rPr sz="1700" dirty="0">
                <a:latin typeface="Arial MT"/>
                <a:cs typeface="Arial MT"/>
              </a:rPr>
              <a:t>Address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missing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values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scale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numeric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features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to </a:t>
            </a:r>
            <a:r>
              <a:rPr sz="1700" dirty="0">
                <a:latin typeface="Arial MT"/>
                <a:cs typeface="Arial MT"/>
              </a:rPr>
              <a:t>ensure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consistency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across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variables.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84203" y="2966821"/>
            <a:ext cx="4846320" cy="137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Arial MT"/>
                <a:cs typeface="Arial MT"/>
              </a:rPr>
              <a:t>02.Encode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Categories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700">
              <a:latin typeface="Arial MT"/>
              <a:cs typeface="Arial MT"/>
            </a:endParaRPr>
          </a:p>
          <a:p>
            <a:pPr marL="12700" marR="5080" algn="just">
              <a:lnSpc>
                <a:spcPct val="102800"/>
              </a:lnSpc>
              <a:spcBef>
                <a:spcPts val="5"/>
              </a:spcBef>
            </a:pPr>
            <a:r>
              <a:rPr sz="1700" dirty="0">
                <a:latin typeface="Arial MT"/>
                <a:cs typeface="Arial MT"/>
              </a:rPr>
              <a:t>Convert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categorical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variables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such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Gender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dirty="0">
                <a:latin typeface="Arial MT"/>
                <a:cs typeface="Arial MT"/>
              </a:rPr>
              <a:t>Geography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into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numeric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codes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algorithms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can </a:t>
            </a:r>
            <a:r>
              <a:rPr sz="1700" spc="-10" dirty="0">
                <a:latin typeface="Arial MT"/>
                <a:cs typeface="Arial MT"/>
              </a:rPr>
              <a:t>process.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84203" y="1577212"/>
            <a:ext cx="5301615" cy="5511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40"/>
              </a:spcBef>
            </a:pPr>
            <a:r>
              <a:rPr sz="1700" dirty="0">
                <a:latin typeface="Arial MT"/>
                <a:cs typeface="Arial MT"/>
              </a:rPr>
              <a:t>Strip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out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non-</a:t>
            </a:r>
            <a:r>
              <a:rPr sz="1700" dirty="0">
                <a:latin typeface="Arial MT"/>
                <a:cs typeface="Arial MT"/>
              </a:rPr>
              <a:t>predictive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identifiers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like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Customer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dirty="0">
                <a:latin typeface="Arial MT"/>
                <a:cs typeface="Arial MT"/>
              </a:rPr>
              <a:t>Surname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don't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contribute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pattern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recognition.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84203" y="1007173"/>
            <a:ext cx="27482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0</a:t>
            </a:r>
            <a:r>
              <a:rPr sz="1700" dirty="0">
                <a:latin typeface="Arial MT"/>
                <a:cs typeface="Arial MT"/>
              </a:rPr>
              <a:t>1.Remove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Irrelevant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Fields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6214" y="1037967"/>
            <a:ext cx="890269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100" spc="-185" dirty="0">
                <a:latin typeface="Verdana"/>
                <a:cs typeface="Verdana"/>
              </a:rPr>
              <a:t>Borcelle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7511" y="1028684"/>
            <a:ext cx="7130426" cy="417989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47585" y="927925"/>
            <a:ext cx="2004695" cy="579120"/>
          </a:xfrm>
          <a:custGeom>
            <a:avLst/>
            <a:gdLst/>
            <a:ahLst/>
            <a:cxnLst/>
            <a:rect l="l" t="t" r="r" b="b"/>
            <a:pathLst>
              <a:path w="2004695" h="579119">
                <a:moveTo>
                  <a:pt x="2004301" y="0"/>
                </a:moveTo>
                <a:lnTo>
                  <a:pt x="0" y="0"/>
                </a:lnTo>
                <a:lnTo>
                  <a:pt x="0" y="578700"/>
                </a:lnTo>
                <a:lnTo>
                  <a:pt x="2004301" y="578700"/>
                </a:lnTo>
                <a:lnTo>
                  <a:pt x="20043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1000"/>
              </a:lnSpc>
            </a:pPr>
            <a:r>
              <a:rPr sz="8800" spc="-509" dirty="0"/>
              <a:t>Building</a:t>
            </a:r>
            <a:r>
              <a:rPr sz="8800" spc="-1135" dirty="0"/>
              <a:t> </a:t>
            </a:r>
            <a:r>
              <a:rPr sz="8800" spc="-505" dirty="0"/>
              <a:t>the </a:t>
            </a:r>
            <a:r>
              <a:rPr sz="8800" spc="-550" dirty="0">
                <a:latin typeface="Arial MT"/>
                <a:cs typeface="Arial MT"/>
              </a:rPr>
              <a:t>C</a:t>
            </a:r>
            <a:r>
              <a:rPr sz="8800" spc="-550" dirty="0"/>
              <a:t>hurn</a:t>
            </a:r>
            <a:r>
              <a:rPr sz="8800" spc="-1155" dirty="0"/>
              <a:t> </a:t>
            </a:r>
            <a:r>
              <a:rPr sz="8800" spc="-360" dirty="0"/>
              <a:t>Prediction </a:t>
            </a:r>
            <a:r>
              <a:rPr sz="8800" spc="-50" dirty="0"/>
              <a:t>Model</a:t>
            </a:r>
            <a:endParaRPr sz="8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6725183"/>
            <a:ext cx="4051300" cy="3275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60" dirty="0">
                <a:latin typeface="Verdana"/>
                <a:cs typeface="Verdana"/>
              </a:rPr>
              <a:t>Model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Architecture</a:t>
            </a:r>
            <a:endParaRPr sz="1700">
              <a:latin typeface="Verdana"/>
              <a:cs typeface="Verdana"/>
            </a:endParaRPr>
          </a:p>
          <a:p>
            <a:pPr marL="12700" marR="321310">
              <a:lnSpc>
                <a:spcPct val="113999"/>
              </a:lnSpc>
              <a:spcBef>
                <a:spcPts val="1515"/>
              </a:spcBef>
            </a:pPr>
            <a:r>
              <a:rPr sz="1700" spc="-60" dirty="0">
                <a:latin typeface="Arial MT"/>
                <a:cs typeface="Arial MT"/>
              </a:rPr>
              <a:t>U</a:t>
            </a:r>
            <a:r>
              <a:rPr sz="1700" spc="-60" dirty="0">
                <a:latin typeface="Verdana"/>
                <a:cs typeface="Verdana"/>
              </a:rPr>
              <a:t>se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decision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tree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or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80" dirty="0">
                <a:latin typeface="Verdana"/>
                <a:cs typeface="Verdana"/>
              </a:rPr>
              <a:t>logistic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90" dirty="0">
                <a:latin typeface="Verdana"/>
                <a:cs typeface="Verdana"/>
              </a:rPr>
              <a:t>regression </a:t>
            </a:r>
            <a:r>
              <a:rPr sz="1700" spc="-100" dirty="0">
                <a:latin typeface="Verdana"/>
                <a:cs typeface="Verdana"/>
              </a:rPr>
              <a:t>nodes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in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120" dirty="0">
                <a:latin typeface="Verdana"/>
                <a:cs typeface="Verdana"/>
              </a:rPr>
              <a:t>SPSS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75" dirty="0">
                <a:latin typeface="Verdana"/>
                <a:cs typeface="Verdana"/>
              </a:rPr>
              <a:t>Modeler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to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90" dirty="0">
                <a:latin typeface="Verdana"/>
                <a:cs typeface="Verdana"/>
              </a:rPr>
              <a:t>create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your </a:t>
            </a:r>
            <a:r>
              <a:rPr sz="1700" spc="-90" dirty="0">
                <a:latin typeface="Verdana"/>
                <a:cs typeface="Verdana"/>
              </a:rPr>
              <a:t>predictive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engine.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13999"/>
              </a:lnSpc>
              <a:spcBef>
                <a:spcPts val="1714"/>
              </a:spcBef>
            </a:pPr>
            <a:r>
              <a:rPr sz="1700" spc="-95" dirty="0">
                <a:latin typeface="Verdana"/>
                <a:cs typeface="Verdana"/>
              </a:rPr>
              <a:t>Decision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trees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classify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customers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by </a:t>
            </a:r>
            <a:r>
              <a:rPr sz="1700" spc="-100" dirty="0">
                <a:latin typeface="Verdana"/>
                <a:cs typeface="Verdana"/>
              </a:rPr>
              <a:t>intelligently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splitting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14" dirty="0">
                <a:latin typeface="Verdana"/>
                <a:cs typeface="Verdana"/>
              </a:rPr>
              <a:t>on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75" dirty="0">
                <a:latin typeface="Arial MT"/>
                <a:cs typeface="Arial MT"/>
              </a:rPr>
              <a:t>k</a:t>
            </a:r>
            <a:r>
              <a:rPr sz="1700" spc="-75" dirty="0">
                <a:latin typeface="Verdana"/>
                <a:cs typeface="Verdana"/>
              </a:rPr>
              <a:t>ey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95" dirty="0">
                <a:latin typeface="Verdana"/>
                <a:cs typeface="Verdana"/>
              </a:rPr>
              <a:t>features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li</a:t>
            </a:r>
            <a:r>
              <a:rPr sz="1700" spc="-20" dirty="0">
                <a:latin typeface="Arial MT"/>
                <a:cs typeface="Arial MT"/>
              </a:rPr>
              <a:t>k</a:t>
            </a:r>
            <a:r>
              <a:rPr sz="1700" spc="-20" dirty="0">
                <a:latin typeface="Verdana"/>
                <a:cs typeface="Verdana"/>
              </a:rPr>
              <a:t>e </a:t>
            </a:r>
            <a:r>
              <a:rPr sz="1700" spc="-125" dirty="0">
                <a:latin typeface="Verdana"/>
                <a:cs typeface="Verdana"/>
              </a:rPr>
              <a:t>income,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80" dirty="0">
                <a:latin typeface="Verdana"/>
                <a:cs typeface="Verdana"/>
              </a:rPr>
              <a:t>credit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score,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and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account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activity.</a:t>
            </a:r>
            <a:endParaRPr sz="1700">
              <a:latin typeface="Verdana"/>
              <a:cs typeface="Verdana"/>
            </a:endParaRPr>
          </a:p>
          <a:p>
            <a:pPr marL="12700" marR="36195">
              <a:lnSpc>
                <a:spcPct val="113999"/>
              </a:lnSpc>
              <a:spcBef>
                <a:spcPts val="1714"/>
              </a:spcBef>
            </a:pPr>
            <a:r>
              <a:rPr sz="1700" spc="-70" dirty="0">
                <a:latin typeface="Arial MT"/>
                <a:cs typeface="Arial MT"/>
              </a:rPr>
              <a:t>T</a:t>
            </a:r>
            <a:r>
              <a:rPr sz="1700" spc="-70" dirty="0">
                <a:latin typeface="Verdana"/>
                <a:cs typeface="Verdana"/>
              </a:rPr>
              <a:t>he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model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120" dirty="0">
                <a:latin typeface="Verdana"/>
                <a:cs typeface="Verdana"/>
              </a:rPr>
              <a:t>learns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complex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patterns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that </a:t>
            </a:r>
            <a:r>
              <a:rPr sz="1700" spc="-110" dirty="0">
                <a:latin typeface="Verdana"/>
                <a:cs typeface="Verdana"/>
              </a:rPr>
              <a:t>distinguish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churners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20" dirty="0">
                <a:latin typeface="Verdana"/>
                <a:cs typeface="Verdana"/>
              </a:rPr>
              <a:t>from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loyal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customers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6214" y="1037967"/>
            <a:ext cx="890269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100" spc="-185" dirty="0">
                <a:latin typeface="Verdana"/>
                <a:cs typeface="Verdana"/>
              </a:rPr>
              <a:t>Borcelle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60663" y="1007170"/>
            <a:ext cx="7715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29" dirty="0">
                <a:latin typeface="Verdana"/>
                <a:cs typeface="Verdana"/>
              </a:rPr>
              <a:t>Point</a:t>
            </a:r>
            <a:r>
              <a:rPr sz="1700" b="1" spc="-320" dirty="0">
                <a:latin typeface="Verdana"/>
                <a:cs typeface="Verdana"/>
              </a:rPr>
              <a:t> </a:t>
            </a:r>
            <a:r>
              <a:rPr sz="1700" b="1" spc="-375" dirty="0">
                <a:latin typeface="Verdana"/>
                <a:cs typeface="Verdana"/>
              </a:rPr>
              <a:t>01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60663" y="4161459"/>
            <a:ext cx="3803015" cy="1018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29" dirty="0">
                <a:latin typeface="Verdana"/>
                <a:cs typeface="Verdana"/>
              </a:rPr>
              <a:t>Point</a:t>
            </a:r>
            <a:r>
              <a:rPr sz="1700" b="1" spc="-320" dirty="0">
                <a:latin typeface="Verdana"/>
                <a:cs typeface="Verdana"/>
              </a:rPr>
              <a:t> </a:t>
            </a:r>
            <a:r>
              <a:rPr sz="1700" b="1" spc="-35" dirty="0">
                <a:latin typeface="Verdana"/>
                <a:cs typeface="Verdana"/>
              </a:rPr>
              <a:t>02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sz="1700" spc="-25" dirty="0">
                <a:latin typeface="Arial MT"/>
                <a:cs typeface="Arial MT"/>
              </a:rPr>
              <a:t>82%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700" dirty="0">
                <a:latin typeface="Arial MT"/>
                <a:cs typeface="Arial MT"/>
              </a:rPr>
              <a:t>Precision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Accuracy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churn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predictions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7707" y="878039"/>
            <a:ext cx="2233930" cy="648970"/>
          </a:xfrm>
          <a:custGeom>
            <a:avLst/>
            <a:gdLst/>
            <a:ahLst/>
            <a:cxnLst/>
            <a:rect l="l" t="t" r="r" b="b"/>
            <a:pathLst>
              <a:path w="2233930" h="648969">
                <a:moveTo>
                  <a:pt x="2233650" y="0"/>
                </a:moveTo>
                <a:lnTo>
                  <a:pt x="0" y="0"/>
                </a:lnTo>
                <a:lnTo>
                  <a:pt x="0" y="648550"/>
                </a:lnTo>
                <a:lnTo>
                  <a:pt x="2233650" y="648550"/>
                </a:lnTo>
                <a:lnTo>
                  <a:pt x="22336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6000" y="2312098"/>
            <a:ext cx="6576059" cy="330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105"/>
              </a:lnSpc>
              <a:spcBef>
                <a:spcPts val="100"/>
              </a:spcBef>
            </a:pPr>
            <a:r>
              <a:rPr sz="8800" spc="-550" dirty="0">
                <a:latin typeface="Arial MT"/>
                <a:cs typeface="Arial MT"/>
              </a:rPr>
              <a:t>E</a:t>
            </a:r>
            <a:r>
              <a:rPr sz="8800" spc="-550" dirty="0">
                <a:latin typeface="Verdana"/>
                <a:cs typeface="Verdana"/>
              </a:rPr>
              <a:t>valuating</a:t>
            </a:r>
            <a:endParaRPr sz="8800">
              <a:latin typeface="Verdana"/>
              <a:cs typeface="Verdana"/>
            </a:endParaRPr>
          </a:p>
          <a:p>
            <a:pPr marL="12700">
              <a:lnSpc>
                <a:spcPts val="7650"/>
              </a:lnSpc>
            </a:pPr>
            <a:r>
              <a:rPr sz="8800" spc="-270" dirty="0">
                <a:latin typeface="Verdana"/>
                <a:cs typeface="Verdana"/>
              </a:rPr>
              <a:t>Model</a:t>
            </a:r>
            <a:endParaRPr sz="8800">
              <a:latin typeface="Verdana"/>
              <a:cs typeface="Verdana"/>
            </a:endParaRPr>
          </a:p>
          <a:p>
            <a:pPr marL="12700">
              <a:lnSpc>
                <a:spcPts val="9105"/>
              </a:lnSpc>
            </a:pPr>
            <a:r>
              <a:rPr sz="8800" spc="-475" dirty="0">
                <a:latin typeface="Arial MT"/>
                <a:cs typeface="Arial MT"/>
              </a:rPr>
              <a:t>P</a:t>
            </a:r>
            <a:r>
              <a:rPr sz="8800" spc="-475" dirty="0">
                <a:latin typeface="Verdana"/>
                <a:cs typeface="Verdana"/>
              </a:rPr>
              <a:t>erformance</a:t>
            </a:r>
            <a:endParaRPr sz="8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60670" y="1474495"/>
            <a:ext cx="3227705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latin typeface="Arial MT"/>
                <a:cs typeface="Arial MT"/>
              </a:rPr>
              <a:t>87%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700" spc="-10" dirty="0">
                <a:latin typeface="Arial MT"/>
                <a:cs typeface="Arial MT"/>
              </a:rPr>
              <a:t>Accuracy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700" dirty="0">
                <a:latin typeface="Arial MT"/>
                <a:cs typeface="Arial MT"/>
              </a:rPr>
              <a:t>Overall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correctness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predictions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60670" y="7315745"/>
            <a:ext cx="3191510" cy="1720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29" dirty="0">
                <a:latin typeface="Verdana"/>
                <a:cs typeface="Verdana"/>
              </a:rPr>
              <a:t>Point</a:t>
            </a:r>
            <a:r>
              <a:rPr sz="1700" b="1" spc="-320" dirty="0">
                <a:latin typeface="Verdana"/>
                <a:cs typeface="Verdana"/>
              </a:rPr>
              <a:t> </a:t>
            </a:r>
            <a:r>
              <a:rPr sz="1700" b="1" spc="-35" dirty="0">
                <a:latin typeface="Verdana"/>
                <a:cs typeface="Verdana"/>
              </a:rPr>
              <a:t>03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sz="1700" spc="-25" dirty="0">
                <a:latin typeface="Arial MT"/>
                <a:cs typeface="Arial MT"/>
              </a:rPr>
              <a:t>76%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700" spc="-10" dirty="0">
                <a:latin typeface="Arial MT"/>
                <a:cs typeface="Arial MT"/>
              </a:rPr>
              <a:t>Recall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1700" spc="-10" dirty="0">
                <a:latin typeface="Arial MT"/>
                <a:cs typeface="Arial MT"/>
              </a:rPr>
              <a:t>Percentage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churners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identified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1401" y="1049827"/>
            <a:ext cx="5768546" cy="45213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66214" y="1037967"/>
            <a:ext cx="890269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100" spc="-185" dirty="0">
                <a:latin typeface="Verdana"/>
                <a:cs typeface="Verdana"/>
              </a:rPr>
              <a:t>Borcelle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43633" y="1028708"/>
            <a:ext cx="3390265" cy="969644"/>
          </a:xfrm>
          <a:custGeom>
            <a:avLst/>
            <a:gdLst/>
            <a:ahLst/>
            <a:cxnLst/>
            <a:rect l="l" t="t" r="r" b="b"/>
            <a:pathLst>
              <a:path w="3390265" h="969644">
                <a:moveTo>
                  <a:pt x="3389754" y="484734"/>
                </a:moveTo>
                <a:lnTo>
                  <a:pt x="3387536" y="531430"/>
                </a:lnTo>
                <a:lnTo>
                  <a:pt x="3381017" y="576867"/>
                </a:lnTo>
                <a:lnTo>
                  <a:pt x="3370399" y="620843"/>
                </a:lnTo>
                <a:lnTo>
                  <a:pt x="3355886" y="663154"/>
                </a:lnTo>
                <a:lnTo>
                  <a:pt x="3337680" y="703599"/>
                </a:lnTo>
                <a:lnTo>
                  <a:pt x="3315984" y="741974"/>
                </a:lnTo>
                <a:lnTo>
                  <a:pt x="3291002" y="778076"/>
                </a:lnTo>
                <a:lnTo>
                  <a:pt x="3262935" y="811702"/>
                </a:lnTo>
                <a:lnTo>
                  <a:pt x="3231987" y="842650"/>
                </a:lnTo>
                <a:lnTo>
                  <a:pt x="3198361" y="870717"/>
                </a:lnTo>
                <a:lnTo>
                  <a:pt x="3162259" y="895699"/>
                </a:lnTo>
                <a:lnTo>
                  <a:pt x="3123884" y="917395"/>
                </a:lnTo>
                <a:lnTo>
                  <a:pt x="3083439" y="935601"/>
                </a:lnTo>
                <a:lnTo>
                  <a:pt x="3041128" y="950114"/>
                </a:lnTo>
                <a:lnTo>
                  <a:pt x="2997152" y="960732"/>
                </a:lnTo>
                <a:lnTo>
                  <a:pt x="2951715" y="967251"/>
                </a:lnTo>
                <a:lnTo>
                  <a:pt x="2905019" y="969469"/>
                </a:lnTo>
                <a:lnTo>
                  <a:pt x="2855212" y="966928"/>
                </a:lnTo>
                <a:lnTo>
                  <a:pt x="2806836" y="959474"/>
                </a:lnTo>
                <a:lnTo>
                  <a:pt x="2760144" y="947357"/>
                </a:lnTo>
                <a:lnTo>
                  <a:pt x="2715388" y="930832"/>
                </a:lnTo>
                <a:lnTo>
                  <a:pt x="2672821" y="910149"/>
                </a:lnTo>
                <a:lnTo>
                  <a:pt x="2632695" y="885561"/>
                </a:lnTo>
                <a:lnTo>
                  <a:pt x="2595261" y="857320"/>
                </a:lnTo>
                <a:lnTo>
                  <a:pt x="2560772" y="825679"/>
                </a:lnTo>
                <a:lnTo>
                  <a:pt x="2529481" y="790889"/>
                </a:lnTo>
                <a:lnTo>
                  <a:pt x="2501639" y="753203"/>
                </a:lnTo>
                <a:lnTo>
                  <a:pt x="2473797" y="790889"/>
                </a:lnTo>
                <a:lnTo>
                  <a:pt x="2442505" y="825679"/>
                </a:lnTo>
                <a:lnTo>
                  <a:pt x="2408016" y="857320"/>
                </a:lnTo>
                <a:lnTo>
                  <a:pt x="2370583" y="885561"/>
                </a:lnTo>
                <a:lnTo>
                  <a:pt x="2330456" y="910149"/>
                </a:lnTo>
                <a:lnTo>
                  <a:pt x="2287889" y="930832"/>
                </a:lnTo>
                <a:lnTo>
                  <a:pt x="2243133" y="947357"/>
                </a:lnTo>
                <a:lnTo>
                  <a:pt x="2196441" y="959474"/>
                </a:lnTo>
                <a:lnTo>
                  <a:pt x="2148066" y="966928"/>
                </a:lnTo>
                <a:lnTo>
                  <a:pt x="2098258" y="969469"/>
                </a:lnTo>
                <a:lnTo>
                  <a:pt x="2048450" y="966928"/>
                </a:lnTo>
                <a:lnTo>
                  <a:pt x="2000074" y="959474"/>
                </a:lnTo>
                <a:lnTo>
                  <a:pt x="1953382" y="947357"/>
                </a:lnTo>
                <a:lnTo>
                  <a:pt x="1908627" y="930832"/>
                </a:lnTo>
                <a:lnTo>
                  <a:pt x="1866060" y="910149"/>
                </a:lnTo>
                <a:lnTo>
                  <a:pt x="1825933" y="885561"/>
                </a:lnTo>
                <a:lnTo>
                  <a:pt x="1788499" y="857320"/>
                </a:lnTo>
                <a:lnTo>
                  <a:pt x="1754011" y="825679"/>
                </a:lnTo>
                <a:lnTo>
                  <a:pt x="1722719" y="790889"/>
                </a:lnTo>
                <a:lnTo>
                  <a:pt x="1694877" y="753203"/>
                </a:lnTo>
                <a:lnTo>
                  <a:pt x="1667035" y="790889"/>
                </a:lnTo>
                <a:lnTo>
                  <a:pt x="1635743" y="825679"/>
                </a:lnTo>
                <a:lnTo>
                  <a:pt x="1601255" y="857320"/>
                </a:lnTo>
                <a:lnTo>
                  <a:pt x="1563821" y="885561"/>
                </a:lnTo>
                <a:lnTo>
                  <a:pt x="1523694" y="910149"/>
                </a:lnTo>
                <a:lnTo>
                  <a:pt x="1481127" y="930832"/>
                </a:lnTo>
                <a:lnTo>
                  <a:pt x="1436372" y="947357"/>
                </a:lnTo>
                <a:lnTo>
                  <a:pt x="1389680" y="959474"/>
                </a:lnTo>
                <a:lnTo>
                  <a:pt x="1341304" y="966928"/>
                </a:lnTo>
                <a:lnTo>
                  <a:pt x="1291496" y="969469"/>
                </a:lnTo>
                <a:lnTo>
                  <a:pt x="1241688" y="966928"/>
                </a:lnTo>
                <a:lnTo>
                  <a:pt x="1193313" y="959474"/>
                </a:lnTo>
                <a:lnTo>
                  <a:pt x="1146621" y="947357"/>
                </a:lnTo>
                <a:lnTo>
                  <a:pt x="1101865" y="930832"/>
                </a:lnTo>
                <a:lnTo>
                  <a:pt x="1059298" y="910149"/>
                </a:lnTo>
                <a:lnTo>
                  <a:pt x="1019171" y="885561"/>
                </a:lnTo>
                <a:lnTo>
                  <a:pt x="981738" y="857320"/>
                </a:lnTo>
                <a:lnTo>
                  <a:pt x="947249" y="825679"/>
                </a:lnTo>
                <a:lnTo>
                  <a:pt x="915957" y="790889"/>
                </a:lnTo>
                <a:lnTo>
                  <a:pt x="888115" y="753203"/>
                </a:lnTo>
                <a:lnTo>
                  <a:pt x="860273" y="790889"/>
                </a:lnTo>
                <a:lnTo>
                  <a:pt x="828982" y="825679"/>
                </a:lnTo>
                <a:lnTo>
                  <a:pt x="794493" y="857320"/>
                </a:lnTo>
                <a:lnTo>
                  <a:pt x="757059" y="885561"/>
                </a:lnTo>
                <a:lnTo>
                  <a:pt x="716933" y="910149"/>
                </a:lnTo>
                <a:lnTo>
                  <a:pt x="674365" y="930832"/>
                </a:lnTo>
                <a:lnTo>
                  <a:pt x="629610" y="947357"/>
                </a:lnTo>
                <a:lnTo>
                  <a:pt x="582918" y="959474"/>
                </a:lnTo>
                <a:lnTo>
                  <a:pt x="534542" y="966928"/>
                </a:lnTo>
                <a:lnTo>
                  <a:pt x="484734" y="969469"/>
                </a:lnTo>
                <a:lnTo>
                  <a:pt x="438039" y="967251"/>
                </a:lnTo>
                <a:lnTo>
                  <a:pt x="392602" y="960732"/>
                </a:lnTo>
                <a:lnTo>
                  <a:pt x="348626" y="950114"/>
                </a:lnTo>
                <a:lnTo>
                  <a:pt x="306315" y="935601"/>
                </a:lnTo>
                <a:lnTo>
                  <a:pt x="265870" y="917395"/>
                </a:lnTo>
                <a:lnTo>
                  <a:pt x="227495" y="895699"/>
                </a:lnTo>
                <a:lnTo>
                  <a:pt x="191393" y="870717"/>
                </a:lnTo>
                <a:lnTo>
                  <a:pt x="157767" y="842650"/>
                </a:lnTo>
                <a:lnTo>
                  <a:pt x="126819" y="811702"/>
                </a:lnTo>
                <a:lnTo>
                  <a:pt x="98752" y="778076"/>
                </a:lnTo>
                <a:lnTo>
                  <a:pt x="73770" y="741974"/>
                </a:lnTo>
                <a:lnTo>
                  <a:pt x="52074" y="703599"/>
                </a:lnTo>
                <a:lnTo>
                  <a:pt x="33868" y="663154"/>
                </a:lnTo>
                <a:lnTo>
                  <a:pt x="19355" y="620843"/>
                </a:lnTo>
                <a:lnTo>
                  <a:pt x="8737" y="576867"/>
                </a:lnTo>
                <a:lnTo>
                  <a:pt x="2218" y="531430"/>
                </a:lnTo>
                <a:lnTo>
                  <a:pt x="0" y="484734"/>
                </a:lnTo>
                <a:lnTo>
                  <a:pt x="2218" y="438039"/>
                </a:lnTo>
                <a:lnTo>
                  <a:pt x="8737" y="392602"/>
                </a:lnTo>
                <a:lnTo>
                  <a:pt x="19355" y="348626"/>
                </a:lnTo>
                <a:lnTo>
                  <a:pt x="33868" y="306315"/>
                </a:lnTo>
                <a:lnTo>
                  <a:pt x="52074" y="265870"/>
                </a:lnTo>
                <a:lnTo>
                  <a:pt x="73770" y="227495"/>
                </a:lnTo>
                <a:lnTo>
                  <a:pt x="98752" y="191393"/>
                </a:lnTo>
                <a:lnTo>
                  <a:pt x="126819" y="157767"/>
                </a:lnTo>
                <a:lnTo>
                  <a:pt x="157767" y="126819"/>
                </a:lnTo>
                <a:lnTo>
                  <a:pt x="191393" y="98752"/>
                </a:lnTo>
                <a:lnTo>
                  <a:pt x="227495" y="73770"/>
                </a:lnTo>
                <a:lnTo>
                  <a:pt x="265870" y="52074"/>
                </a:lnTo>
                <a:lnTo>
                  <a:pt x="306315" y="33868"/>
                </a:lnTo>
                <a:lnTo>
                  <a:pt x="348626" y="19355"/>
                </a:lnTo>
                <a:lnTo>
                  <a:pt x="392602" y="8737"/>
                </a:lnTo>
                <a:lnTo>
                  <a:pt x="438039" y="2218"/>
                </a:lnTo>
                <a:lnTo>
                  <a:pt x="484734" y="0"/>
                </a:lnTo>
                <a:lnTo>
                  <a:pt x="534542" y="2540"/>
                </a:lnTo>
                <a:lnTo>
                  <a:pt x="582918" y="9995"/>
                </a:lnTo>
                <a:lnTo>
                  <a:pt x="629610" y="22112"/>
                </a:lnTo>
                <a:lnTo>
                  <a:pt x="674365" y="38637"/>
                </a:lnTo>
                <a:lnTo>
                  <a:pt x="716933" y="59320"/>
                </a:lnTo>
                <a:lnTo>
                  <a:pt x="757059" y="83908"/>
                </a:lnTo>
                <a:lnTo>
                  <a:pt x="794493" y="112149"/>
                </a:lnTo>
                <a:lnTo>
                  <a:pt x="828982" y="143790"/>
                </a:lnTo>
                <a:lnTo>
                  <a:pt x="860273" y="178580"/>
                </a:lnTo>
                <a:lnTo>
                  <a:pt x="888115" y="216266"/>
                </a:lnTo>
                <a:lnTo>
                  <a:pt x="915957" y="178580"/>
                </a:lnTo>
                <a:lnTo>
                  <a:pt x="947249" y="143790"/>
                </a:lnTo>
                <a:lnTo>
                  <a:pt x="981738" y="112149"/>
                </a:lnTo>
                <a:lnTo>
                  <a:pt x="1019171" y="83908"/>
                </a:lnTo>
                <a:lnTo>
                  <a:pt x="1059298" y="59320"/>
                </a:lnTo>
                <a:lnTo>
                  <a:pt x="1101865" y="38637"/>
                </a:lnTo>
                <a:lnTo>
                  <a:pt x="1146621" y="22112"/>
                </a:lnTo>
                <a:lnTo>
                  <a:pt x="1193313" y="9995"/>
                </a:lnTo>
                <a:lnTo>
                  <a:pt x="1241688" y="2540"/>
                </a:lnTo>
                <a:lnTo>
                  <a:pt x="1291496" y="0"/>
                </a:lnTo>
                <a:lnTo>
                  <a:pt x="1341304" y="2540"/>
                </a:lnTo>
                <a:lnTo>
                  <a:pt x="1389680" y="9995"/>
                </a:lnTo>
                <a:lnTo>
                  <a:pt x="1436372" y="22112"/>
                </a:lnTo>
                <a:lnTo>
                  <a:pt x="1481127" y="38637"/>
                </a:lnTo>
                <a:lnTo>
                  <a:pt x="1523694" y="59320"/>
                </a:lnTo>
                <a:lnTo>
                  <a:pt x="1563821" y="83908"/>
                </a:lnTo>
                <a:lnTo>
                  <a:pt x="1601255" y="112149"/>
                </a:lnTo>
                <a:lnTo>
                  <a:pt x="1635743" y="143790"/>
                </a:lnTo>
                <a:lnTo>
                  <a:pt x="1667035" y="178580"/>
                </a:lnTo>
                <a:lnTo>
                  <a:pt x="1694877" y="216266"/>
                </a:lnTo>
                <a:lnTo>
                  <a:pt x="1722719" y="178580"/>
                </a:lnTo>
                <a:lnTo>
                  <a:pt x="1754011" y="143790"/>
                </a:lnTo>
                <a:lnTo>
                  <a:pt x="1788499" y="112149"/>
                </a:lnTo>
                <a:lnTo>
                  <a:pt x="1825933" y="83908"/>
                </a:lnTo>
                <a:lnTo>
                  <a:pt x="1866060" y="59320"/>
                </a:lnTo>
                <a:lnTo>
                  <a:pt x="1908627" y="38637"/>
                </a:lnTo>
                <a:lnTo>
                  <a:pt x="1953382" y="22112"/>
                </a:lnTo>
                <a:lnTo>
                  <a:pt x="2000074" y="9995"/>
                </a:lnTo>
                <a:lnTo>
                  <a:pt x="2048450" y="2540"/>
                </a:lnTo>
                <a:lnTo>
                  <a:pt x="2098258" y="0"/>
                </a:lnTo>
                <a:lnTo>
                  <a:pt x="2148066" y="2540"/>
                </a:lnTo>
                <a:lnTo>
                  <a:pt x="2196441" y="9995"/>
                </a:lnTo>
                <a:lnTo>
                  <a:pt x="2243133" y="22112"/>
                </a:lnTo>
                <a:lnTo>
                  <a:pt x="2287889" y="38637"/>
                </a:lnTo>
                <a:lnTo>
                  <a:pt x="2330456" y="59320"/>
                </a:lnTo>
                <a:lnTo>
                  <a:pt x="2370583" y="83908"/>
                </a:lnTo>
                <a:lnTo>
                  <a:pt x="2408016" y="112149"/>
                </a:lnTo>
                <a:lnTo>
                  <a:pt x="2442505" y="143790"/>
                </a:lnTo>
                <a:lnTo>
                  <a:pt x="2473797" y="178580"/>
                </a:lnTo>
                <a:lnTo>
                  <a:pt x="2501639" y="216266"/>
                </a:lnTo>
                <a:lnTo>
                  <a:pt x="2529481" y="178580"/>
                </a:lnTo>
                <a:lnTo>
                  <a:pt x="2560772" y="143790"/>
                </a:lnTo>
                <a:lnTo>
                  <a:pt x="2595261" y="112149"/>
                </a:lnTo>
                <a:lnTo>
                  <a:pt x="2632695" y="83908"/>
                </a:lnTo>
                <a:lnTo>
                  <a:pt x="2672821" y="59320"/>
                </a:lnTo>
                <a:lnTo>
                  <a:pt x="2715388" y="38637"/>
                </a:lnTo>
                <a:lnTo>
                  <a:pt x="2760144" y="22112"/>
                </a:lnTo>
                <a:lnTo>
                  <a:pt x="2806836" y="9995"/>
                </a:lnTo>
                <a:lnTo>
                  <a:pt x="2855212" y="2540"/>
                </a:lnTo>
                <a:lnTo>
                  <a:pt x="2905019" y="0"/>
                </a:lnTo>
                <a:lnTo>
                  <a:pt x="2951715" y="2218"/>
                </a:lnTo>
                <a:lnTo>
                  <a:pt x="2997152" y="8737"/>
                </a:lnTo>
                <a:lnTo>
                  <a:pt x="3041128" y="19355"/>
                </a:lnTo>
                <a:lnTo>
                  <a:pt x="3083439" y="33868"/>
                </a:lnTo>
                <a:lnTo>
                  <a:pt x="3123884" y="52074"/>
                </a:lnTo>
                <a:lnTo>
                  <a:pt x="3162259" y="73770"/>
                </a:lnTo>
                <a:lnTo>
                  <a:pt x="3198361" y="98752"/>
                </a:lnTo>
                <a:lnTo>
                  <a:pt x="3231987" y="126819"/>
                </a:lnTo>
                <a:lnTo>
                  <a:pt x="3262935" y="157767"/>
                </a:lnTo>
                <a:lnTo>
                  <a:pt x="3291002" y="191393"/>
                </a:lnTo>
                <a:lnTo>
                  <a:pt x="3315984" y="227495"/>
                </a:lnTo>
                <a:lnTo>
                  <a:pt x="3337680" y="265870"/>
                </a:lnTo>
                <a:lnTo>
                  <a:pt x="3355886" y="306315"/>
                </a:lnTo>
                <a:lnTo>
                  <a:pt x="3370399" y="348626"/>
                </a:lnTo>
                <a:lnTo>
                  <a:pt x="3381017" y="392602"/>
                </a:lnTo>
                <a:lnTo>
                  <a:pt x="3387536" y="438039"/>
                </a:lnTo>
                <a:lnTo>
                  <a:pt x="3389754" y="484734"/>
                </a:lnTo>
                <a:close/>
              </a:path>
            </a:pathLst>
          </a:custGeom>
          <a:solidFill>
            <a:srgbClr val="449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7567" y="907973"/>
            <a:ext cx="1894839" cy="628650"/>
          </a:xfrm>
          <a:custGeom>
            <a:avLst/>
            <a:gdLst/>
            <a:ahLst/>
            <a:cxnLst/>
            <a:rect l="l" t="t" r="r" b="b"/>
            <a:pathLst>
              <a:path w="1894839" h="628650">
                <a:moveTo>
                  <a:pt x="1894611" y="0"/>
                </a:moveTo>
                <a:lnTo>
                  <a:pt x="0" y="0"/>
                </a:lnTo>
                <a:lnTo>
                  <a:pt x="0" y="628599"/>
                </a:lnTo>
                <a:lnTo>
                  <a:pt x="1894611" y="628599"/>
                </a:lnTo>
                <a:lnTo>
                  <a:pt x="18946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3470795"/>
            <a:ext cx="593788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475" dirty="0"/>
              <a:t>Scoring</a:t>
            </a:r>
            <a:r>
              <a:rPr sz="8800" spc="-1155" dirty="0"/>
              <a:t> </a:t>
            </a:r>
            <a:r>
              <a:rPr sz="8800" spc="-625" dirty="0"/>
              <a:t>and</a:t>
            </a:r>
            <a:endParaRPr sz="8800"/>
          </a:p>
        </p:txBody>
      </p:sp>
      <p:sp>
        <p:nvSpPr>
          <p:cNvPr id="7" name="object 7"/>
          <p:cNvSpPr txBox="1"/>
          <p:nvPr/>
        </p:nvSpPr>
        <p:spPr>
          <a:xfrm>
            <a:off x="1016000" y="4442345"/>
            <a:ext cx="6122035" cy="276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545" dirty="0">
                <a:latin typeface="Verdana"/>
                <a:cs typeface="Verdana"/>
              </a:rPr>
              <a:t>Deployment</a:t>
            </a:r>
            <a:endParaRPr sz="8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930"/>
              </a:spcBef>
            </a:pPr>
            <a:r>
              <a:rPr sz="1700" spc="-40" dirty="0">
                <a:latin typeface="Verdana"/>
                <a:cs typeface="Verdana"/>
              </a:rPr>
              <a:t>Ne</a:t>
            </a:r>
            <a:r>
              <a:rPr sz="1700" spc="-40" dirty="0">
                <a:latin typeface="Arial MT"/>
                <a:cs typeface="Arial MT"/>
              </a:rPr>
              <a:t>w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105" dirty="0">
                <a:latin typeface="Arial MT"/>
                <a:cs typeface="Arial MT"/>
              </a:rPr>
              <a:t>C</a:t>
            </a:r>
            <a:r>
              <a:rPr sz="1700" spc="-105" dirty="0">
                <a:latin typeface="Verdana"/>
                <a:cs typeface="Verdana"/>
              </a:rPr>
              <a:t>ustomer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Data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8689402"/>
            <a:ext cx="63131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95" dirty="0">
                <a:latin typeface="Verdana"/>
                <a:cs typeface="Verdana"/>
              </a:rPr>
              <a:t>Score</a:t>
            </a:r>
            <a:r>
              <a:rPr sz="1700" spc="-200" dirty="0">
                <a:latin typeface="Verdana"/>
                <a:cs typeface="Verdana"/>
              </a:rPr>
              <a:t> </a:t>
            </a:r>
            <a:r>
              <a:rPr sz="1700" spc="-90" dirty="0">
                <a:latin typeface="Verdana"/>
                <a:cs typeface="Verdana"/>
              </a:rPr>
              <a:t>node</a:t>
            </a:r>
            <a:r>
              <a:rPr sz="1700" spc="-20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generates</a:t>
            </a:r>
            <a:r>
              <a:rPr sz="1700" spc="-200" dirty="0">
                <a:latin typeface="Verdana"/>
                <a:cs typeface="Verdana"/>
              </a:rPr>
              <a:t> </a:t>
            </a:r>
            <a:r>
              <a:rPr sz="1700" spc="-80" dirty="0">
                <a:latin typeface="Verdana"/>
                <a:cs typeface="Verdana"/>
              </a:rPr>
              <a:t>ris</a:t>
            </a:r>
            <a:r>
              <a:rPr sz="1700" spc="-80" dirty="0">
                <a:latin typeface="Arial MT"/>
                <a:cs typeface="Arial MT"/>
              </a:rPr>
              <a:t>k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80" dirty="0">
                <a:latin typeface="Verdana"/>
                <a:cs typeface="Verdana"/>
              </a:rPr>
              <a:t>scores</a:t>
            </a:r>
            <a:r>
              <a:rPr sz="1700" spc="-200" dirty="0">
                <a:latin typeface="Verdana"/>
                <a:cs typeface="Verdana"/>
              </a:rPr>
              <a:t> </a:t>
            </a:r>
            <a:r>
              <a:rPr sz="1700" spc="-120" dirty="0">
                <a:latin typeface="Verdana"/>
                <a:cs typeface="Verdana"/>
              </a:rPr>
              <a:t>from</a:t>
            </a:r>
            <a:r>
              <a:rPr sz="1700" spc="-200" dirty="0">
                <a:latin typeface="Verdana"/>
                <a:cs typeface="Verdana"/>
              </a:rPr>
              <a:t> </a:t>
            </a:r>
            <a:r>
              <a:rPr sz="1700" spc="-10" dirty="0">
                <a:latin typeface="Arial MT"/>
                <a:cs typeface="Arial MT"/>
              </a:rPr>
              <a:t>0-100%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85" dirty="0">
                <a:latin typeface="Verdana"/>
                <a:cs typeface="Verdana"/>
              </a:rPr>
              <a:t>for</a:t>
            </a:r>
            <a:r>
              <a:rPr sz="1700" spc="-200" dirty="0">
                <a:latin typeface="Verdana"/>
                <a:cs typeface="Verdana"/>
              </a:rPr>
              <a:t> </a:t>
            </a:r>
            <a:r>
              <a:rPr sz="1700" spc="-80" dirty="0">
                <a:latin typeface="Verdana"/>
                <a:cs typeface="Verdana"/>
              </a:rPr>
              <a:t>each</a:t>
            </a:r>
            <a:r>
              <a:rPr sz="1700" spc="-200" dirty="0">
                <a:latin typeface="Verdana"/>
                <a:cs typeface="Verdana"/>
              </a:rPr>
              <a:t> </a:t>
            </a:r>
            <a:r>
              <a:rPr sz="1700" spc="-65" dirty="0">
                <a:latin typeface="Verdana"/>
                <a:cs typeface="Verdana"/>
              </a:rPr>
              <a:t>customer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8098852"/>
            <a:ext cx="17056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10" dirty="0">
                <a:latin typeface="Arial MT"/>
                <a:cs typeface="Arial MT"/>
              </a:rPr>
              <a:t>C</a:t>
            </a:r>
            <a:r>
              <a:rPr sz="1700" spc="-110" dirty="0">
                <a:latin typeface="Verdana"/>
                <a:cs typeface="Verdana"/>
              </a:rPr>
              <a:t>hurn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85" dirty="0">
                <a:latin typeface="Arial MT"/>
                <a:cs typeface="Arial MT"/>
              </a:rPr>
              <a:t>P</a:t>
            </a:r>
            <a:r>
              <a:rPr sz="1700" spc="-85" dirty="0">
                <a:latin typeface="Verdana"/>
                <a:cs typeface="Verdana"/>
              </a:rPr>
              <a:t>robability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7508302"/>
            <a:ext cx="61620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90" dirty="0">
                <a:latin typeface="Verdana"/>
                <a:cs typeface="Verdana"/>
              </a:rPr>
              <a:t>Fresh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data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65" dirty="0">
                <a:latin typeface="Verdana"/>
                <a:cs typeface="Verdana"/>
              </a:rPr>
              <a:t>flo</a:t>
            </a:r>
            <a:r>
              <a:rPr sz="1700" spc="-65" dirty="0">
                <a:latin typeface="Arial MT"/>
                <a:cs typeface="Arial MT"/>
              </a:rPr>
              <a:t>w</a:t>
            </a:r>
            <a:r>
              <a:rPr sz="1700" spc="-65" dirty="0">
                <a:latin typeface="Verdana"/>
                <a:cs typeface="Verdana"/>
              </a:rPr>
              <a:t>s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into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the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trained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model</a:t>
            </a:r>
            <a:r>
              <a:rPr sz="1700" spc="-195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for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90" dirty="0">
                <a:latin typeface="Verdana"/>
                <a:cs typeface="Verdana"/>
              </a:rPr>
              <a:t>real</a:t>
            </a:r>
            <a:r>
              <a:rPr sz="1700" spc="-90" dirty="0">
                <a:latin typeface="Arial MT"/>
                <a:cs typeface="Arial MT"/>
              </a:rPr>
              <a:t>-</a:t>
            </a:r>
            <a:r>
              <a:rPr sz="1700" spc="-120" dirty="0">
                <a:latin typeface="Verdana"/>
                <a:cs typeface="Verdana"/>
              </a:rPr>
              <a:t>time</a:t>
            </a:r>
            <a:r>
              <a:rPr sz="1700" spc="-19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assessment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35321" y="8862644"/>
            <a:ext cx="4319905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b="1" spc="-120" dirty="0">
                <a:latin typeface="Verdana"/>
                <a:cs typeface="Verdana"/>
              </a:rPr>
              <a:t>Appl</a:t>
            </a:r>
            <a:r>
              <a:rPr sz="1700" spc="-120" dirty="0">
                <a:latin typeface="Arial MT"/>
                <a:cs typeface="Arial MT"/>
              </a:rPr>
              <a:t>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b="1" spc="-85" dirty="0">
                <a:latin typeface="Verdana"/>
                <a:cs typeface="Verdana"/>
              </a:rPr>
              <a:t>t</a:t>
            </a:r>
            <a:r>
              <a:rPr sz="1700" spc="-85" dirty="0">
                <a:latin typeface="Arial MT"/>
                <a:cs typeface="Arial MT"/>
              </a:rPr>
              <a:t>h</a:t>
            </a:r>
            <a:r>
              <a:rPr sz="1700" b="1" spc="-85" dirty="0">
                <a:latin typeface="Verdana"/>
                <a:cs typeface="Verdana"/>
              </a:rPr>
              <a:t>e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85" dirty="0">
                <a:latin typeface="Verdana"/>
                <a:cs typeface="Verdana"/>
              </a:rPr>
              <a:t>model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35" dirty="0">
                <a:latin typeface="Verdana"/>
                <a:cs typeface="Verdana"/>
              </a:rPr>
              <a:t>to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25" dirty="0">
                <a:latin typeface="Verdana"/>
                <a:cs typeface="Verdana"/>
              </a:rPr>
              <a:t>ne</a:t>
            </a:r>
            <a:r>
              <a:rPr sz="1700" spc="-125" dirty="0">
                <a:latin typeface="Arial MT"/>
                <a:cs typeface="Arial MT"/>
              </a:rPr>
              <a:t>w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b="1" spc="-165" dirty="0">
                <a:latin typeface="Verdana"/>
                <a:cs typeface="Verdana"/>
              </a:rPr>
              <a:t>customer data</a:t>
            </a:r>
            <a:r>
              <a:rPr sz="1700" b="1" spc="-170" dirty="0">
                <a:latin typeface="Verdana"/>
                <a:cs typeface="Verdana"/>
              </a:rPr>
              <a:t> </a:t>
            </a:r>
            <a:r>
              <a:rPr sz="1700" b="1" spc="-25" dirty="0">
                <a:latin typeface="Verdana"/>
                <a:cs typeface="Verdana"/>
              </a:rPr>
              <a:t>to </a:t>
            </a:r>
            <a:r>
              <a:rPr sz="1700" b="1" spc="-130" dirty="0">
                <a:latin typeface="Verdana"/>
                <a:cs typeface="Verdana"/>
              </a:rPr>
              <a:t>predict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35" dirty="0">
                <a:latin typeface="Verdana"/>
                <a:cs typeface="Verdana"/>
              </a:rPr>
              <a:t>c</a:t>
            </a:r>
            <a:r>
              <a:rPr sz="1700" spc="-135" dirty="0">
                <a:latin typeface="Arial MT"/>
                <a:cs typeface="Arial MT"/>
              </a:rPr>
              <a:t>h</a:t>
            </a:r>
            <a:r>
              <a:rPr sz="1700" b="1" spc="-135" dirty="0">
                <a:latin typeface="Verdana"/>
                <a:cs typeface="Verdana"/>
              </a:rPr>
              <a:t>urn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10" dirty="0">
                <a:latin typeface="Verdana"/>
                <a:cs typeface="Verdana"/>
              </a:rPr>
              <a:t>ris</a:t>
            </a:r>
            <a:r>
              <a:rPr sz="1700" spc="-110" dirty="0">
                <a:latin typeface="Arial MT"/>
                <a:cs typeface="Arial MT"/>
              </a:rPr>
              <a:t>k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b="1" spc="-185" dirty="0">
                <a:latin typeface="Verdana"/>
                <a:cs typeface="Verdana"/>
              </a:rPr>
              <a:t>in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35" dirty="0">
                <a:latin typeface="Verdana"/>
                <a:cs typeface="Verdana"/>
              </a:rPr>
              <a:t>real</a:t>
            </a:r>
            <a:r>
              <a:rPr sz="1700" spc="-135" dirty="0">
                <a:latin typeface="Arial MT"/>
                <a:cs typeface="Arial MT"/>
              </a:rPr>
              <a:t>-</a:t>
            </a:r>
            <a:r>
              <a:rPr sz="1700" b="1" spc="-185" dirty="0">
                <a:latin typeface="Verdana"/>
                <a:cs typeface="Verdana"/>
              </a:rPr>
              <a:t>time.</a:t>
            </a:r>
            <a:r>
              <a:rPr sz="1700" b="1" spc="-155" dirty="0">
                <a:latin typeface="Verdana"/>
                <a:cs typeface="Verdana"/>
              </a:rPr>
              <a:t> </a:t>
            </a:r>
            <a:r>
              <a:rPr sz="1700" spc="-60" dirty="0">
                <a:latin typeface="Arial MT"/>
                <a:cs typeface="Arial MT"/>
              </a:rPr>
              <a:t>Th</a:t>
            </a:r>
            <a:r>
              <a:rPr sz="1700" b="1" spc="-60" dirty="0">
                <a:latin typeface="Verdana"/>
                <a:cs typeface="Verdana"/>
              </a:rPr>
              <a:t>e</a:t>
            </a:r>
            <a:r>
              <a:rPr sz="1700" b="1" spc="-165" dirty="0">
                <a:latin typeface="Verdana"/>
                <a:cs typeface="Verdana"/>
              </a:rPr>
              <a:t> </a:t>
            </a:r>
            <a:r>
              <a:rPr sz="1700" b="1" spc="-120" dirty="0">
                <a:latin typeface="Verdana"/>
                <a:cs typeface="Verdana"/>
              </a:rPr>
              <a:t>scoring </a:t>
            </a:r>
            <a:r>
              <a:rPr sz="1700" b="1" spc="-145" dirty="0">
                <a:latin typeface="Verdana"/>
                <a:cs typeface="Verdana"/>
              </a:rPr>
              <a:t>process</a:t>
            </a:r>
            <a:r>
              <a:rPr sz="1700" b="1" spc="-120" dirty="0">
                <a:latin typeface="Verdana"/>
                <a:cs typeface="Verdana"/>
              </a:rPr>
              <a:t> </a:t>
            </a:r>
            <a:r>
              <a:rPr sz="1700" b="1" spc="-175" dirty="0">
                <a:latin typeface="Verdana"/>
                <a:cs typeface="Verdana"/>
              </a:rPr>
              <a:t>transforms</a:t>
            </a:r>
            <a:r>
              <a:rPr sz="1700" b="1" spc="-120" dirty="0">
                <a:latin typeface="Verdana"/>
                <a:cs typeface="Verdana"/>
              </a:rPr>
              <a:t> </a:t>
            </a:r>
            <a:r>
              <a:rPr sz="1700" b="1" spc="-145" dirty="0">
                <a:latin typeface="Verdana"/>
                <a:cs typeface="Verdana"/>
              </a:rPr>
              <a:t>predictions</a:t>
            </a:r>
            <a:r>
              <a:rPr sz="1700" b="1" spc="-120" dirty="0">
                <a:latin typeface="Verdana"/>
                <a:cs typeface="Verdana"/>
              </a:rPr>
              <a:t> </a:t>
            </a:r>
            <a:r>
              <a:rPr sz="1700" b="1" spc="-20" dirty="0">
                <a:latin typeface="Verdana"/>
                <a:cs typeface="Verdana"/>
              </a:rPr>
              <a:t>into </a:t>
            </a:r>
            <a:r>
              <a:rPr sz="1700" b="1" spc="-145" dirty="0">
                <a:latin typeface="Verdana"/>
                <a:cs typeface="Verdana"/>
              </a:rPr>
              <a:t>actionable</a:t>
            </a:r>
            <a:r>
              <a:rPr sz="1700" b="1" spc="-130" dirty="0">
                <a:latin typeface="Verdana"/>
                <a:cs typeface="Verdana"/>
              </a:rPr>
              <a:t> </a:t>
            </a:r>
            <a:r>
              <a:rPr sz="1700" b="1" spc="-165" dirty="0">
                <a:latin typeface="Verdana"/>
                <a:cs typeface="Verdana"/>
              </a:rPr>
              <a:t>business</a:t>
            </a:r>
            <a:r>
              <a:rPr sz="1700" b="1" spc="-130" dirty="0">
                <a:latin typeface="Verdana"/>
                <a:cs typeface="Verdana"/>
              </a:rPr>
              <a:t> </a:t>
            </a:r>
            <a:r>
              <a:rPr sz="1700" b="1" spc="-55" dirty="0">
                <a:latin typeface="Verdana"/>
                <a:cs typeface="Verdana"/>
              </a:rPr>
              <a:t>intelligence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35321" y="7976818"/>
            <a:ext cx="3329304" cy="6159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700" b="1" spc="-155" dirty="0">
                <a:latin typeface="Verdana"/>
                <a:cs typeface="Verdana"/>
              </a:rPr>
              <a:t>Enterprise</a:t>
            </a:r>
            <a:r>
              <a:rPr sz="1700" b="1" spc="-130" dirty="0">
                <a:latin typeface="Verdana"/>
                <a:cs typeface="Verdana"/>
              </a:rPr>
              <a:t> </a:t>
            </a:r>
            <a:r>
              <a:rPr sz="1700" b="1" spc="-35" dirty="0">
                <a:latin typeface="Arial"/>
                <a:cs typeface="Arial"/>
              </a:rPr>
              <a:t>D</a:t>
            </a:r>
            <a:r>
              <a:rPr sz="1700" b="1" spc="-35" dirty="0">
                <a:latin typeface="Verdana"/>
                <a:cs typeface="Verdana"/>
              </a:rPr>
              <a:t>eplo</a:t>
            </a:r>
            <a:r>
              <a:rPr sz="1700" b="1" spc="-35" dirty="0">
                <a:latin typeface="Arial"/>
                <a:cs typeface="Arial"/>
              </a:rPr>
              <a:t>y</a:t>
            </a:r>
            <a:r>
              <a:rPr sz="1700" b="1" spc="-35" dirty="0">
                <a:latin typeface="Verdana"/>
                <a:cs typeface="Verdana"/>
              </a:rPr>
              <a:t>ment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700" spc="-110" dirty="0">
                <a:latin typeface="Arial MT"/>
                <a:cs typeface="Arial MT"/>
              </a:rPr>
              <a:t>S</a:t>
            </a:r>
            <a:r>
              <a:rPr sz="1700" b="1" spc="-110" dirty="0">
                <a:latin typeface="Verdana"/>
                <a:cs typeface="Verdana"/>
              </a:rPr>
              <a:t>cale</a:t>
            </a:r>
            <a:r>
              <a:rPr sz="1700" b="1" spc="-180" dirty="0">
                <a:latin typeface="Verdana"/>
                <a:cs typeface="Verdana"/>
              </a:rPr>
              <a:t> </a:t>
            </a:r>
            <a:r>
              <a:rPr sz="1700" b="1" spc="-175" dirty="0">
                <a:latin typeface="Verdana"/>
                <a:cs typeface="Verdana"/>
              </a:rPr>
              <a:t>via </a:t>
            </a:r>
            <a:r>
              <a:rPr sz="1700" dirty="0">
                <a:latin typeface="Arial MT"/>
                <a:cs typeface="Arial MT"/>
              </a:rPr>
              <a:t>IBM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35" dirty="0">
                <a:latin typeface="Arial MT"/>
                <a:cs typeface="Arial MT"/>
              </a:rPr>
              <a:t>C</a:t>
            </a:r>
            <a:r>
              <a:rPr sz="1700" b="1" spc="-135" dirty="0">
                <a:latin typeface="Verdana"/>
                <a:cs typeface="Verdana"/>
              </a:rPr>
              <a:t>loud</a:t>
            </a:r>
            <a:r>
              <a:rPr sz="1700" b="1" spc="-170" dirty="0">
                <a:latin typeface="Verdana"/>
                <a:cs typeface="Verdana"/>
              </a:rPr>
              <a:t> </a:t>
            </a:r>
            <a:r>
              <a:rPr sz="1700" spc="-80" dirty="0">
                <a:latin typeface="Arial MT"/>
                <a:cs typeface="Arial MT"/>
              </a:rPr>
              <a:t>P</a:t>
            </a:r>
            <a:r>
              <a:rPr sz="1700" b="1" spc="-80" dirty="0">
                <a:latin typeface="Verdana"/>
                <a:cs typeface="Verdana"/>
              </a:rPr>
              <a:t>a</a:t>
            </a:r>
            <a:r>
              <a:rPr sz="1700" spc="-80" dirty="0">
                <a:latin typeface="Arial MT"/>
                <a:cs typeface="Arial MT"/>
              </a:rPr>
              <a:t>k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b="1" spc="-135" dirty="0">
                <a:latin typeface="Verdana"/>
                <a:cs typeface="Verdana"/>
              </a:rPr>
              <a:t>for</a:t>
            </a:r>
            <a:r>
              <a:rPr sz="1700" b="1" spc="-170" dirty="0">
                <a:latin typeface="Verdana"/>
                <a:cs typeface="Verdana"/>
              </a:rPr>
              <a:t> </a:t>
            </a:r>
            <a:r>
              <a:rPr sz="1700" spc="-75" dirty="0">
                <a:latin typeface="Arial MT"/>
                <a:cs typeface="Arial MT"/>
              </a:rPr>
              <a:t>D</a:t>
            </a:r>
            <a:r>
              <a:rPr sz="1700" b="1" spc="-75" dirty="0">
                <a:latin typeface="Verdana"/>
                <a:cs typeface="Verdana"/>
              </a:rPr>
              <a:t>ata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35321" y="6795719"/>
            <a:ext cx="4301490" cy="9112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700" b="1" spc="-135" dirty="0">
                <a:latin typeface="Arial"/>
                <a:cs typeface="Arial"/>
              </a:rPr>
              <a:t>T</a:t>
            </a:r>
            <a:r>
              <a:rPr sz="1700" b="1" spc="-135" dirty="0">
                <a:latin typeface="Verdana"/>
                <a:cs typeface="Verdana"/>
              </a:rPr>
              <a:t>argeted</a:t>
            </a:r>
            <a:r>
              <a:rPr sz="1700" b="1" spc="-155" dirty="0">
                <a:latin typeface="Verdana"/>
                <a:cs typeface="Verdana"/>
              </a:rPr>
              <a:t> </a:t>
            </a:r>
            <a:r>
              <a:rPr sz="1700" b="1" spc="-60" dirty="0">
                <a:latin typeface="Arial"/>
                <a:cs typeface="Arial"/>
              </a:rPr>
              <a:t>C</a:t>
            </a:r>
            <a:r>
              <a:rPr sz="1700" b="1" spc="-60" dirty="0">
                <a:latin typeface="Verdana"/>
                <a:cs typeface="Verdana"/>
              </a:rPr>
              <a:t>ampaigns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13999"/>
              </a:lnSpc>
            </a:pPr>
            <a:r>
              <a:rPr sz="1700" b="1" spc="-165" dirty="0">
                <a:latin typeface="Verdana"/>
                <a:cs typeface="Verdana"/>
              </a:rPr>
              <a:t>Enables</a:t>
            </a:r>
            <a:r>
              <a:rPr sz="1700" b="1" spc="-125" dirty="0">
                <a:latin typeface="Verdana"/>
                <a:cs typeface="Verdana"/>
              </a:rPr>
              <a:t> </a:t>
            </a:r>
            <a:r>
              <a:rPr sz="1700" b="1" spc="-150" dirty="0">
                <a:latin typeface="Verdana"/>
                <a:cs typeface="Verdana"/>
              </a:rPr>
              <a:t>personali</a:t>
            </a:r>
            <a:r>
              <a:rPr sz="1700" spc="-150" dirty="0">
                <a:latin typeface="Arial MT"/>
                <a:cs typeface="Arial MT"/>
              </a:rPr>
              <a:t>z</a:t>
            </a:r>
            <a:r>
              <a:rPr sz="1700" b="1" spc="-150" dirty="0">
                <a:latin typeface="Verdana"/>
                <a:cs typeface="Verdana"/>
              </a:rPr>
              <a:t>ed</a:t>
            </a:r>
            <a:r>
              <a:rPr sz="1700" b="1" spc="-125" dirty="0">
                <a:latin typeface="Verdana"/>
                <a:cs typeface="Verdana"/>
              </a:rPr>
              <a:t> </a:t>
            </a:r>
            <a:r>
              <a:rPr sz="1700" b="1" spc="-155" dirty="0">
                <a:latin typeface="Verdana"/>
                <a:cs typeface="Verdana"/>
              </a:rPr>
              <a:t>retention</a:t>
            </a:r>
            <a:r>
              <a:rPr sz="1700" b="1" spc="-125" dirty="0">
                <a:latin typeface="Verdana"/>
                <a:cs typeface="Verdana"/>
              </a:rPr>
              <a:t> </a:t>
            </a:r>
            <a:r>
              <a:rPr sz="1700" b="1" spc="-130" dirty="0">
                <a:latin typeface="Verdana"/>
                <a:cs typeface="Verdana"/>
              </a:rPr>
              <a:t>offers</a:t>
            </a:r>
            <a:r>
              <a:rPr sz="1700" b="1" spc="-125" dirty="0">
                <a:latin typeface="Verdana"/>
                <a:cs typeface="Verdana"/>
              </a:rPr>
              <a:t> </a:t>
            </a:r>
            <a:r>
              <a:rPr sz="1700" b="1" spc="-135" dirty="0">
                <a:latin typeface="Verdana"/>
                <a:cs typeface="Verdana"/>
              </a:rPr>
              <a:t>and </a:t>
            </a:r>
            <a:r>
              <a:rPr sz="1700" b="1" spc="-85" dirty="0">
                <a:latin typeface="Verdana"/>
                <a:cs typeface="Verdana"/>
              </a:rPr>
              <a:t>interventions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5572" y="1051125"/>
            <a:ext cx="6798309" cy="5170805"/>
            <a:chOff x="10475572" y="1051125"/>
            <a:chExt cx="6798309" cy="5170805"/>
          </a:xfrm>
        </p:grpSpPr>
        <p:sp>
          <p:nvSpPr>
            <p:cNvPr id="3" name="object 3"/>
            <p:cNvSpPr/>
            <p:nvPr/>
          </p:nvSpPr>
          <p:spPr>
            <a:xfrm>
              <a:off x="10751889" y="2427080"/>
              <a:ext cx="4563110" cy="989330"/>
            </a:xfrm>
            <a:custGeom>
              <a:avLst/>
              <a:gdLst/>
              <a:ahLst/>
              <a:cxnLst/>
              <a:rect l="l" t="t" r="r" b="b"/>
              <a:pathLst>
                <a:path w="4563109" h="989329">
                  <a:moveTo>
                    <a:pt x="4071418" y="101103"/>
                  </a:moveTo>
                  <a:lnTo>
                    <a:pt x="3256186" y="101103"/>
                  </a:lnTo>
                  <a:lnTo>
                    <a:pt x="3236289" y="97203"/>
                  </a:lnTo>
                  <a:lnTo>
                    <a:pt x="3220243" y="86490"/>
                  </a:lnTo>
                  <a:lnTo>
                    <a:pt x="3209529" y="70446"/>
                  </a:lnTo>
                  <a:lnTo>
                    <a:pt x="3205629" y="50551"/>
                  </a:lnTo>
                  <a:lnTo>
                    <a:pt x="3209529" y="30656"/>
                  </a:lnTo>
                  <a:lnTo>
                    <a:pt x="3220243" y="14612"/>
                  </a:lnTo>
                  <a:lnTo>
                    <a:pt x="3236289" y="3899"/>
                  </a:lnTo>
                  <a:lnTo>
                    <a:pt x="3256186" y="0"/>
                  </a:lnTo>
                  <a:lnTo>
                    <a:pt x="4080897" y="0"/>
                  </a:lnTo>
                  <a:lnTo>
                    <a:pt x="4070282" y="11527"/>
                  </a:lnTo>
                  <a:lnTo>
                    <a:pt x="4062333" y="24683"/>
                  </a:lnTo>
                  <a:lnTo>
                    <a:pt x="4057347" y="39320"/>
                  </a:lnTo>
                  <a:lnTo>
                    <a:pt x="4055619" y="55290"/>
                  </a:lnTo>
                  <a:lnTo>
                    <a:pt x="4056754" y="68002"/>
                  </a:lnTo>
                  <a:lnTo>
                    <a:pt x="4059963" y="79974"/>
                  </a:lnTo>
                  <a:lnTo>
                    <a:pt x="4064950" y="91057"/>
                  </a:lnTo>
                  <a:lnTo>
                    <a:pt x="4071418" y="101103"/>
                  </a:lnTo>
                  <a:close/>
                </a:path>
                <a:path w="4563109" h="989329">
                  <a:moveTo>
                    <a:pt x="4512211" y="101103"/>
                  </a:moveTo>
                  <a:lnTo>
                    <a:pt x="4193070" y="101103"/>
                  </a:lnTo>
                  <a:lnTo>
                    <a:pt x="4199538" y="91057"/>
                  </a:lnTo>
                  <a:lnTo>
                    <a:pt x="4204525" y="79974"/>
                  </a:lnTo>
                  <a:lnTo>
                    <a:pt x="4207734" y="68002"/>
                  </a:lnTo>
                  <a:lnTo>
                    <a:pt x="4208869" y="55290"/>
                  </a:lnTo>
                  <a:lnTo>
                    <a:pt x="4207141" y="39320"/>
                  </a:lnTo>
                  <a:lnTo>
                    <a:pt x="4202155" y="24683"/>
                  </a:lnTo>
                  <a:lnTo>
                    <a:pt x="4194206" y="11527"/>
                  </a:lnTo>
                  <a:lnTo>
                    <a:pt x="4183591" y="0"/>
                  </a:lnTo>
                  <a:lnTo>
                    <a:pt x="4512211" y="0"/>
                  </a:lnTo>
                  <a:lnTo>
                    <a:pt x="4531442" y="3899"/>
                  </a:lnTo>
                  <a:lnTo>
                    <a:pt x="4547562" y="14612"/>
                  </a:lnTo>
                  <a:lnTo>
                    <a:pt x="4558646" y="30656"/>
                  </a:lnTo>
                  <a:lnTo>
                    <a:pt x="4562768" y="50551"/>
                  </a:lnTo>
                  <a:lnTo>
                    <a:pt x="4558868" y="70446"/>
                  </a:lnTo>
                  <a:lnTo>
                    <a:pt x="4548154" y="86490"/>
                  </a:lnTo>
                  <a:lnTo>
                    <a:pt x="4532108" y="97203"/>
                  </a:lnTo>
                  <a:lnTo>
                    <a:pt x="4512211" y="101103"/>
                  </a:lnTo>
                  <a:close/>
                </a:path>
                <a:path w="4563109" h="989329">
                  <a:moveTo>
                    <a:pt x="379177" y="988917"/>
                  </a:moveTo>
                  <a:lnTo>
                    <a:pt x="0" y="988917"/>
                  </a:lnTo>
                  <a:lnTo>
                    <a:pt x="0" y="110581"/>
                  </a:lnTo>
                  <a:lnTo>
                    <a:pt x="379177" y="110581"/>
                  </a:lnTo>
                  <a:lnTo>
                    <a:pt x="379177" y="988917"/>
                  </a:lnTo>
                  <a:close/>
                </a:path>
              </a:pathLst>
            </a:custGeom>
            <a:solidFill>
              <a:srgbClr val="8C5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5572" y="1051125"/>
              <a:ext cx="6798170" cy="5170492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726511" y="1037967"/>
            <a:ext cx="73025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100" spc="-175" dirty="0">
                <a:latin typeface="Verdana"/>
                <a:cs typeface="Verdana"/>
              </a:rPr>
              <a:t>orcelle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7646" y="997762"/>
            <a:ext cx="1984375" cy="429259"/>
          </a:xfrm>
          <a:custGeom>
            <a:avLst/>
            <a:gdLst/>
            <a:ahLst/>
            <a:cxnLst/>
            <a:rect l="l" t="t" r="r" b="b"/>
            <a:pathLst>
              <a:path w="1984375" h="429259">
                <a:moveTo>
                  <a:pt x="1984362" y="0"/>
                </a:moveTo>
                <a:lnTo>
                  <a:pt x="0" y="0"/>
                </a:lnTo>
                <a:lnTo>
                  <a:pt x="0" y="429044"/>
                </a:lnTo>
                <a:lnTo>
                  <a:pt x="1984362" y="429044"/>
                </a:lnTo>
                <a:lnTo>
                  <a:pt x="1984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6000" y="7727365"/>
            <a:ext cx="702183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-385" dirty="0">
                <a:latin typeface="Verdana"/>
                <a:cs typeface="Verdana"/>
              </a:rPr>
              <a:t>Business</a:t>
            </a:r>
            <a:r>
              <a:rPr sz="7000" spc="-925" dirty="0">
                <a:latin typeface="Verdana"/>
                <a:cs typeface="Verdana"/>
              </a:rPr>
              <a:t> </a:t>
            </a:r>
            <a:r>
              <a:rPr sz="7000" spc="-330" dirty="0">
                <a:latin typeface="Verdana"/>
                <a:cs typeface="Verdana"/>
              </a:rPr>
              <a:t>Benefits</a:t>
            </a:r>
            <a:endParaRPr sz="7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7041527"/>
            <a:ext cx="772731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-254" dirty="0">
                <a:latin typeface="Arial MT"/>
                <a:cs typeface="Arial MT"/>
              </a:rPr>
              <a:t>R</a:t>
            </a:r>
            <a:r>
              <a:rPr sz="7000" spc="-254" dirty="0">
                <a:latin typeface="Verdana"/>
                <a:cs typeface="Verdana"/>
              </a:rPr>
              <a:t>eal</a:t>
            </a:r>
            <a:r>
              <a:rPr sz="7000" spc="-254" dirty="0">
                <a:latin typeface="Arial MT"/>
                <a:cs typeface="Arial MT"/>
              </a:rPr>
              <a:t>-</a:t>
            </a:r>
            <a:r>
              <a:rPr sz="7000" spc="-275" dirty="0">
                <a:latin typeface="Arial MT"/>
                <a:cs typeface="Arial MT"/>
              </a:rPr>
              <a:t>W</a:t>
            </a:r>
            <a:r>
              <a:rPr sz="7000" spc="-275" dirty="0">
                <a:latin typeface="Verdana"/>
                <a:cs typeface="Verdana"/>
              </a:rPr>
              <a:t>orld</a:t>
            </a:r>
            <a:r>
              <a:rPr sz="7000" spc="-875" dirty="0">
                <a:latin typeface="Verdana"/>
                <a:cs typeface="Verdana"/>
              </a:rPr>
              <a:t> </a:t>
            </a:r>
            <a:r>
              <a:rPr sz="7000" spc="-300" dirty="0">
                <a:latin typeface="Arial MT"/>
                <a:cs typeface="Arial MT"/>
              </a:rPr>
              <a:t>I</a:t>
            </a:r>
            <a:r>
              <a:rPr sz="7000" spc="-300" dirty="0">
                <a:latin typeface="Verdana"/>
                <a:cs typeface="Verdana"/>
              </a:rPr>
              <a:t>mpact</a:t>
            </a:r>
            <a:r>
              <a:rPr sz="7000" spc="-300" dirty="0">
                <a:latin typeface="Arial MT"/>
                <a:cs typeface="Arial MT"/>
              </a:rPr>
              <a:t>:</a:t>
            </a:r>
            <a:endParaRPr sz="7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3337928"/>
            <a:ext cx="5385435" cy="150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3995">
              <a:lnSpc>
                <a:spcPct val="113999"/>
              </a:lnSpc>
              <a:spcBef>
                <a:spcPts val="100"/>
              </a:spcBef>
            </a:pPr>
            <a:r>
              <a:rPr sz="1700" spc="-90" dirty="0">
                <a:latin typeface="Verdana"/>
                <a:cs typeface="Verdana"/>
              </a:rPr>
              <a:t>Earl</a:t>
            </a:r>
            <a:r>
              <a:rPr sz="1700" spc="-90" dirty="0">
                <a:latin typeface="Arial MT"/>
                <a:cs typeface="Arial MT"/>
              </a:rPr>
              <a:t>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95" dirty="0">
                <a:latin typeface="Verdana"/>
                <a:cs typeface="Verdana"/>
              </a:rPr>
              <a:t>identification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65" dirty="0">
                <a:latin typeface="Verdana"/>
                <a:cs typeface="Verdana"/>
              </a:rPr>
              <a:t>of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80" dirty="0">
                <a:latin typeface="Verdana"/>
                <a:cs typeface="Verdana"/>
              </a:rPr>
              <a:t>at</a:t>
            </a:r>
            <a:r>
              <a:rPr sz="1700" spc="-80" dirty="0">
                <a:latin typeface="Arial MT"/>
                <a:cs typeface="Arial MT"/>
              </a:rPr>
              <a:t>-</a:t>
            </a:r>
            <a:r>
              <a:rPr sz="1700" spc="-80" dirty="0">
                <a:latin typeface="Verdana"/>
                <a:cs typeface="Verdana"/>
              </a:rPr>
              <a:t>ris</a:t>
            </a:r>
            <a:r>
              <a:rPr sz="1700" spc="-80" dirty="0">
                <a:latin typeface="Arial MT"/>
                <a:cs typeface="Arial MT"/>
              </a:rPr>
              <a:t>k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5" dirty="0">
                <a:latin typeface="Verdana"/>
                <a:cs typeface="Verdana"/>
              </a:rPr>
              <a:t>customers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enables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65" dirty="0">
                <a:latin typeface="Verdana"/>
                <a:cs typeface="Verdana"/>
              </a:rPr>
              <a:t>timel</a:t>
            </a:r>
            <a:r>
              <a:rPr sz="1700" spc="-65" dirty="0">
                <a:latin typeface="Arial MT"/>
                <a:cs typeface="Arial MT"/>
              </a:rPr>
              <a:t>y </a:t>
            </a:r>
            <a:r>
              <a:rPr sz="1700" spc="-125" dirty="0">
                <a:latin typeface="Verdana"/>
                <a:cs typeface="Verdana"/>
              </a:rPr>
              <a:t>intervention,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90" dirty="0">
                <a:latin typeface="Verdana"/>
                <a:cs typeface="Verdana"/>
              </a:rPr>
              <a:t>reducing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churn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b</a:t>
            </a:r>
            <a:r>
              <a:rPr sz="1700" spc="-40" dirty="0">
                <a:latin typeface="Arial MT"/>
                <a:cs typeface="Arial MT"/>
              </a:rPr>
              <a:t>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5" dirty="0">
                <a:latin typeface="Verdana"/>
                <a:cs typeface="Verdana"/>
              </a:rPr>
              <a:t>up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to</a:t>
            </a:r>
            <a:r>
              <a:rPr sz="1700" spc="-185" dirty="0">
                <a:latin typeface="Verdana"/>
                <a:cs typeface="Verdana"/>
              </a:rPr>
              <a:t> </a:t>
            </a:r>
            <a:r>
              <a:rPr sz="1700" spc="-20" dirty="0">
                <a:latin typeface="Arial MT"/>
                <a:cs typeface="Arial MT"/>
              </a:rPr>
              <a:t>25%</a:t>
            </a:r>
            <a:r>
              <a:rPr sz="1700" spc="-20" dirty="0"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700" spc="-85" dirty="0">
                <a:latin typeface="Arial MT"/>
                <a:cs typeface="Arial MT"/>
              </a:rPr>
              <a:t>I</a:t>
            </a:r>
            <a:r>
              <a:rPr sz="1700" spc="-85" dirty="0">
                <a:latin typeface="Verdana"/>
                <a:cs typeface="Verdana"/>
              </a:rPr>
              <a:t>ncrease</a:t>
            </a:r>
            <a:r>
              <a:rPr sz="1700" spc="-15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Profitability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13999"/>
              </a:lnSpc>
            </a:pPr>
            <a:r>
              <a:rPr sz="1700" spc="-110" dirty="0">
                <a:latin typeface="Arial MT"/>
                <a:cs typeface="Arial MT"/>
              </a:rPr>
              <a:t>I</a:t>
            </a:r>
            <a:r>
              <a:rPr sz="1700" spc="-110" dirty="0">
                <a:latin typeface="Verdana"/>
                <a:cs typeface="Verdana"/>
              </a:rPr>
              <a:t>mproves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customer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05" dirty="0">
                <a:latin typeface="Verdana"/>
                <a:cs typeface="Verdana"/>
              </a:rPr>
              <a:t>lifetime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14" dirty="0">
                <a:latin typeface="Verdana"/>
                <a:cs typeface="Verdana"/>
              </a:rPr>
              <a:t>value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and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110" dirty="0">
                <a:latin typeface="Verdana"/>
                <a:cs typeface="Verdana"/>
              </a:rPr>
              <a:t>drives</a:t>
            </a:r>
            <a:r>
              <a:rPr sz="1700" spc="-18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sustainable </a:t>
            </a:r>
            <a:r>
              <a:rPr sz="1700" spc="-114" dirty="0">
                <a:latin typeface="Verdana"/>
                <a:cs typeface="Verdana"/>
              </a:rPr>
              <a:t>revenue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90" dirty="0">
                <a:latin typeface="Verdana"/>
                <a:cs typeface="Verdana"/>
              </a:rPr>
              <a:t>gro</a:t>
            </a:r>
            <a:r>
              <a:rPr sz="1700" spc="-90" dirty="0">
                <a:latin typeface="Arial MT"/>
                <a:cs typeface="Arial MT"/>
              </a:rPr>
              <a:t>w</a:t>
            </a:r>
            <a:r>
              <a:rPr sz="1700" spc="-90" dirty="0">
                <a:latin typeface="Verdana"/>
                <a:cs typeface="Verdana"/>
              </a:rPr>
              <a:t>th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14" dirty="0">
                <a:latin typeface="Verdana"/>
                <a:cs typeface="Verdana"/>
              </a:rPr>
              <a:t>through</a:t>
            </a:r>
            <a:r>
              <a:rPr sz="1700" spc="-17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retention.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6000" y="3078924"/>
            <a:ext cx="20358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60" dirty="0">
                <a:latin typeface="Arial MT"/>
                <a:cs typeface="Arial MT"/>
              </a:rPr>
              <a:t>R</a:t>
            </a:r>
            <a:r>
              <a:rPr sz="1700" spc="-60" dirty="0"/>
              <a:t>educe</a:t>
            </a:r>
            <a:r>
              <a:rPr sz="1700" spc="-180" dirty="0"/>
              <a:t> </a:t>
            </a:r>
            <a:r>
              <a:rPr sz="1700" spc="-110" dirty="0"/>
              <a:t>Churn</a:t>
            </a:r>
            <a:r>
              <a:rPr sz="1700" spc="-180" dirty="0"/>
              <a:t> </a:t>
            </a:r>
            <a:r>
              <a:rPr sz="1700" spc="-65" dirty="0">
                <a:latin typeface="Arial MT"/>
                <a:cs typeface="Arial MT"/>
              </a:rPr>
              <a:t>R</a:t>
            </a:r>
            <a:r>
              <a:rPr sz="1700" spc="-65" dirty="0"/>
              <a:t>ates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40034" y="7492529"/>
            <a:ext cx="6514465" cy="164083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700" b="1" spc="-125" dirty="0">
                <a:latin typeface="Arial"/>
                <a:cs typeface="Arial"/>
              </a:rPr>
              <a:t>M</a:t>
            </a:r>
            <a:r>
              <a:rPr sz="1700" b="1" spc="-125" dirty="0">
                <a:latin typeface="Verdana"/>
                <a:cs typeface="Verdana"/>
              </a:rPr>
              <a:t>a</a:t>
            </a:r>
            <a:r>
              <a:rPr sz="1700" b="1" spc="-125" dirty="0">
                <a:latin typeface="Arial"/>
                <a:cs typeface="Arial"/>
              </a:rPr>
              <a:t>x</a:t>
            </a:r>
            <a:r>
              <a:rPr sz="1700" b="1" spc="-125" dirty="0">
                <a:latin typeface="Verdana"/>
                <a:cs typeface="Verdana"/>
              </a:rPr>
              <a:t>imi</a:t>
            </a:r>
            <a:r>
              <a:rPr sz="1700" b="1" spc="-125" dirty="0">
                <a:latin typeface="Arial"/>
                <a:cs typeface="Arial"/>
              </a:rPr>
              <a:t>z</a:t>
            </a:r>
            <a:r>
              <a:rPr sz="1700" b="1" spc="-125" dirty="0">
                <a:latin typeface="Verdana"/>
                <a:cs typeface="Verdana"/>
              </a:rPr>
              <a:t>e</a:t>
            </a:r>
            <a:r>
              <a:rPr sz="1700" b="1" spc="-135" dirty="0">
                <a:latin typeface="Verdana"/>
                <a:cs typeface="Verdana"/>
              </a:rPr>
              <a:t> </a:t>
            </a:r>
            <a:r>
              <a:rPr sz="1700" b="1" spc="-130" dirty="0">
                <a:latin typeface="Arial"/>
                <a:cs typeface="Arial"/>
              </a:rPr>
              <a:t>M</a:t>
            </a:r>
            <a:r>
              <a:rPr sz="1700" b="1" spc="-130" dirty="0">
                <a:latin typeface="Verdana"/>
                <a:cs typeface="Verdana"/>
              </a:rPr>
              <a:t>ar</a:t>
            </a:r>
            <a:r>
              <a:rPr sz="1700" b="1" spc="-130" dirty="0">
                <a:latin typeface="Arial"/>
                <a:cs typeface="Arial"/>
              </a:rPr>
              <a:t>k</a:t>
            </a:r>
            <a:r>
              <a:rPr sz="1700" b="1" spc="-130" dirty="0">
                <a:latin typeface="Verdana"/>
                <a:cs typeface="Verdana"/>
              </a:rPr>
              <a:t>eting</a:t>
            </a:r>
            <a:r>
              <a:rPr sz="1700" b="1" spc="-135" dirty="0">
                <a:latin typeface="Verdana"/>
                <a:cs typeface="Verdana"/>
              </a:rPr>
              <a:t> </a:t>
            </a:r>
            <a:r>
              <a:rPr sz="1700" b="1" spc="-25" dirty="0">
                <a:latin typeface="Arial"/>
                <a:cs typeface="Arial"/>
              </a:rPr>
              <a:t>ROI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02800"/>
              </a:lnSpc>
              <a:spcBef>
                <a:spcPts val="70"/>
              </a:spcBef>
            </a:pPr>
            <a:r>
              <a:rPr sz="1700" b="1" spc="-10" dirty="0">
                <a:latin typeface="Arial"/>
                <a:cs typeface="Arial"/>
              </a:rPr>
              <a:t>Data-</a:t>
            </a:r>
            <a:r>
              <a:rPr sz="1700" b="1" dirty="0">
                <a:latin typeface="Arial"/>
                <a:cs typeface="Arial"/>
              </a:rPr>
              <a:t>driven</a:t>
            </a:r>
            <a:r>
              <a:rPr sz="1700" b="1" spc="-7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decision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making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enhances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campaign</a:t>
            </a:r>
            <a:r>
              <a:rPr sz="1700" b="1" spc="-7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effectiveness </a:t>
            </a:r>
            <a:r>
              <a:rPr sz="1700" b="1" dirty="0">
                <a:latin typeface="Arial"/>
                <a:cs typeface="Arial"/>
              </a:rPr>
              <a:t>and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resource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allocation.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700" b="1" dirty="0">
                <a:latin typeface="Arial"/>
                <a:cs typeface="Arial"/>
              </a:rPr>
              <a:t>Gain</a:t>
            </a:r>
            <a:r>
              <a:rPr sz="1700" b="1" spc="-7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Competitive</a:t>
            </a:r>
            <a:r>
              <a:rPr sz="1700" b="1" spc="-7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Edge</a:t>
            </a:r>
            <a:endParaRPr sz="1700">
              <a:latin typeface="Arial"/>
              <a:cs typeface="Arial"/>
            </a:endParaRPr>
          </a:p>
          <a:p>
            <a:pPr marL="12700" marR="149860">
              <a:lnSpc>
                <a:spcPct val="102800"/>
              </a:lnSpc>
            </a:pPr>
            <a:r>
              <a:rPr sz="1700" b="1" dirty="0">
                <a:latin typeface="Arial"/>
                <a:cs typeface="Arial"/>
              </a:rPr>
              <a:t>Predictive</a:t>
            </a:r>
            <a:r>
              <a:rPr sz="1700" b="1" spc="-7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customer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insights</a:t>
            </a:r>
            <a:r>
              <a:rPr sz="1700" b="1" spc="-7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create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differentiation</a:t>
            </a:r>
            <a:r>
              <a:rPr sz="1700" b="1" spc="-7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in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crowded markets.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9161" y="1039735"/>
            <a:ext cx="7971199" cy="82039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567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1785" dirty="0"/>
              <a:t>T</a:t>
            </a:r>
            <a:r>
              <a:rPr spc="-1835" dirty="0"/>
              <a:t>h</a:t>
            </a:r>
            <a:r>
              <a:rPr spc="-1855" dirty="0"/>
              <a:t>a</a:t>
            </a:r>
            <a:r>
              <a:rPr spc="-1845" dirty="0"/>
              <a:t>n</a:t>
            </a:r>
            <a:r>
              <a:rPr spc="-1025" dirty="0"/>
              <a:t>k</a:t>
            </a:r>
            <a:r>
              <a:rPr spc="-3285" dirty="0"/>
              <a:t> </a:t>
            </a:r>
            <a:r>
              <a:rPr spc="-1460" dirty="0"/>
              <a:t>Y</a:t>
            </a:r>
            <a:r>
              <a:rPr spc="-1475" dirty="0"/>
              <a:t>o</a:t>
            </a:r>
            <a:r>
              <a:rPr spc="-710" dirty="0"/>
              <a:t>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571</Words>
  <Application>Microsoft Office PowerPoint</Application>
  <PresentationFormat>Custom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MT</vt:lpstr>
      <vt:lpstr>Calibri</vt:lpstr>
      <vt:lpstr>Cambria</vt:lpstr>
      <vt:lpstr>Verdana</vt:lpstr>
      <vt:lpstr>Office Theme</vt:lpstr>
      <vt:lpstr>Bank Customer Churn</vt:lpstr>
      <vt:lpstr>Why Predict</vt:lpstr>
      <vt:lpstr>What is IBM</vt:lpstr>
      <vt:lpstr>Understanding the</vt:lpstr>
      <vt:lpstr>01.Remove Irrelevant Fields</vt:lpstr>
      <vt:lpstr>Building the Churn Prediction Model</vt:lpstr>
      <vt:lpstr>Point 01</vt:lpstr>
      <vt:lpstr>Scoring and</vt:lpstr>
      <vt:lpstr>Reduce Churn Rates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Rishi Raj Hans</dc:creator>
  <cp:keywords>DAG5bfmQ4B4,BAFm6y8K3T0,0</cp:keywords>
  <cp:lastModifiedBy>Rishi Raj Hans</cp:lastModifiedBy>
  <cp:revision>1</cp:revision>
  <dcterms:created xsi:type="dcterms:W3CDTF">2025-11-22T14:27:24Z</dcterms:created>
  <dcterms:modified xsi:type="dcterms:W3CDTF">2025-11-22T14:30:20Z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2025-11-22T00:00:00Z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2025-11-22T00:00:00Z</vt:filetime>
  </property>
  <property fmtid="{D5CDD505-2E9C-101B-9397-08002B2CF9AE}" pid="5" name="Producer">
    <vt:lpwstr>Canva</vt:lpwstr>
  </property>
</Properties>
</file>